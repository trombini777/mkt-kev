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565" r:id="rId5"/>
    <p:sldId id="568" r:id="rId6"/>
    <p:sldId id="577" r:id="rId7"/>
    <p:sldId id="578" r:id="rId8"/>
    <p:sldId id="263" r:id="rId9"/>
    <p:sldId id="579" r:id="rId10"/>
    <p:sldId id="580" r:id="rId11"/>
    <p:sldId id="552" r:id="rId12"/>
    <p:sldId id="556" r:id="rId13"/>
    <p:sldId id="582" r:id="rId14"/>
    <p:sldId id="583" r:id="rId15"/>
    <p:sldId id="571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F74A"/>
    <a:srgbClr val="00FF00"/>
    <a:srgbClr val="167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769"/>
  </p:normalViewPr>
  <p:slideViewPr>
    <p:cSldViewPr snapToGrid="0">
      <p:cViewPr varScale="1">
        <p:scale>
          <a:sx n="53" d="100"/>
          <a:sy n="53" d="100"/>
        </p:scale>
        <p:origin x="9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23CC2-607D-1B52-81DB-289BE339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CB3313-912D-DDFD-E321-D4DFEF2B0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0CF897-EAE6-71DC-5A3C-D70BA0753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0699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5099-9486-9365-AD35-E50047B6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38A875B-7B9E-2C79-4B3D-CF4E35171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6043C3-5D93-584C-112A-6816402DC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0511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7796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1819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872E-3665-CE53-3B20-61B08A818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90C69E-853F-69BB-882B-65E1908C7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D200870-29A0-517C-5490-2492B67F6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2066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843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exto do Título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Texto do Título</a:t>
            </a:r>
          </a:p>
        </p:txBody>
      </p:sp>
      <p:sp>
        <p:nvSpPr>
          <p:cNvPr id="2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o Título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exto do Título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Texto do Título</a:t>
            </a:r>
          </a:p>
        </p:txBody>
      </p:sp>
      <p:sp>
        <p:nvSpPr>
          <p:cNvPr id="4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57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67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6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76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85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6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9;p17"/>
          <p:cNvSpPr>
            <a:spLocks noGrp="1"/>
          </p:cNvSpPr>
          <p:nvPr>
            <p:ph type="pic" sz="quarter" idx="21"/>
          </p:nvPr>
        </p:nvSpPr>
        <p:spPr>
          <a:xfrm>
            <a:off x="3121149" y="3383277"/>
            <a:ext cx="5096259" cy="507797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6" name="Google Shape;20;p17"/>
          <p:cNvSpPr>
            <a:spLocks noGrp="1"/>
          </p:cNvSpPr>
          <p:nvPr>
            <p:ph type="pic" sz="quarter" idx="22"/>
          </p:nvPr>
        </p:nvSpPr>
        <p:spPr>
          <a:xfrm>
            <a:off x="9643870" y="6370320"/>
            <a:ext cx="5096259" cy="507797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7" name="Google Shape;21;p17"/>
          <p:cNvSpPr>
            <a:spLocks noGrp="1"/>
          </p:cNvSpPr>
          <p:nvPr>
            <p:ph type="pic" sz="quarter" idx="23"/>
          </p:nvPr>
        </p:nvSpPr>
        <p:spPr>
          <a:xfrm>
            <a:off x="16166589" y="3383277"/>
            <a:ext cx="5096259" cy="507797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38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6852999" y="12466522"/>
            <a:ext cx="622201" cy="492358"/>
          </a:xfrm>
          <a:prstGeom prst="rect">
            <a:avLst/>
          </a:prstGeom>
        </p:spPr>
        <p:txBody>
          <a:bodyPr lIns="91398" tIns="91398" rIns="91398" bIns="91398" anchor="ctr"/>
          <a:lstStyle>
            <a:lvl1pPr algn="r" defTabSz="1828800">
              <a:defRPr sz="2000">
                <a:solidFill>
                  <a:srgbClr val="888888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Raleway"/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6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6" name="Texto do Título"/>
          <p:cNvSpPr txBox="1">
            <a:spLocks noGrp="1"/>
          </p:cNvSpPr>
          <p:nvPr>
            <p:ph type="title"/>
          </p:nvPr>
        </p:nvSpPr>
        <p:spPr>
          <a:xfrm>
            <a:off x="12192000" y="5497286"/>
            <a:ext cx="5842000" cy="2721429"/>
          </a:xfrm>
          <a:prstGeom prst="rect">
            <a:avLst/>
          </a:prstGeom>
        </p:spPr>
        <p:txBody>
          <a:bodyPr lIns="91437" tIns="91437" rIns="91437" bIns="91437"/>
          <a:lstStyle>
            <a:lvl1pPr algn="l" defTabSz="1828800">
              <a:lnSpc>
                <a:spcPct val="90000"/>
              </a:lnSpc>
              <a:defRPr sz="8000" b="1">
                <a:solidFill>
                  <a:srgbClr val="FFFFFF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  <a:sym typeface="Roboto Black"/>
              </a:defRPr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7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6852921" y="12466483"/>
            <a:ext cx="622280" cy="492436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000">
                <a:solidFill>
                  <a:srgbClr val="888888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Helvetica"/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o do Título"/>
          <p:cNvSpPr txBox="1">
            <a:spLocks noGrp="1"/>
          </p:cNvSpPr>
          <p:nvPr>
            <p:ph type="title"/>
          </p:nvPr>
        </p:nvSpPr>
        <p:spPr>
          <a:xfrm>
            <a:off x="3671415" y="1985534"/>
            <a:ext cx="17041203" cy="5473802"/>
          </a:xfrm>
          <a:prstGeom prst="rect">
            <a:avLst/>
          </a:prstGeom>
        </p:spPr>
        <p:txBody>
          <a:bodyPr lIns="182847" tIns="182847" rIns="182847" bIns="182847" anchor="b"/>
          <a:lstStyle>
            <a:lvl1pPr defTabSz="1828800">
              <a:defRPr sz="10400"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55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671397" y="7557664"/>
            <a:ext cx="17041205" cy="2113803"/>
          </a:xfrm>
          <a:prstGeom prst="rect">
            <a:avLst/>
          </a:prstGeom>
        </p:spPr>
        <p:txBody>
          <a:bodyPr lIns="182847" tIns="182847" rIns="182847" bIns="182847" anchor="t"/>
          <a:lstStyle>
            <a:lvl1pPr marL="457200" indent="-342900" algn="ctr" defTabSz="1828800">
              <a:spcBef>
                <a:spcPts val="0"/>
              </a:spcBef>
              <a:buSzTx/>
              <a:buNone/>
              <a:defRPr sz="5600">
                <a:solidFill>
                  <a:srgbClr val="595959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1pPr>
            <a:lvl2pPr marL="457200" indent="-114300" algn="ctr" defTabSz="1828800">
              <a:spcBef>
                <a:spcPts val="0"/>
              </a:spcBef>
              <a:buSzTx/>
              <a:buNone/>
              <a:defRPr sz="5600">
                <a:solidFill>
                  <a:srgbClr val="595959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2pPr>
            <a:lvl3pPr marL="457200" indent="-114300" algn="ctr" defTabSz="1828800">
              <a:spcBef>
                <a:spcPts val="0"/>
              </a:spcBef>
              <a:buSzTx/>
              <a:buNone/>
              <a:defRPr sz="5600">
                <a:solidFill>
                  <a:srgbClr val="595959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3pPr>
            <a:lvl4pPr marL="457200" indent="-114300" algn="ctr" defTabSz="1828800">
              <a:spcBef>
                <a:spcPts val="0"/>
              </a:spcBef>
              <a:buSzTx/>
              <a:buNone/>
              <a:defRPr sz="5600">
                <a:solidFill>
                  <a:srgbClr val="595959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4pPr>
            <a:lvl5pPr marL="457200" indent="-114300" algn="ctr" defTabSz="1828800">
              <a:spcBef>
                <a:spcPts val="0"/>
              </a:spcBef>
              <a:buSzTx/>
              <a:buNone/>
              <a:defRPr sz="5600">
                <a:solidFill>
                  <a:srgbClr val="595959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5pPr>
          </a:lstStyle>
          <a:p>
            <a:r>
              <a:rPr dirty="0" err="1"/>
              <a:t>Nível</a:t>
            </a:r>
            <a:r>
              <a:rPr dirty="0"/>
              <a:t> de Corpo Um</a:t>
            </a:r>
          </a:p>
          <a:p>
            <a:pPr lvl="1"/>
            <a:r>
              <a:rPr dirty="0" err="1"/>
              <a:t>Nível</a:t>
            </a:r>
            <a:r>
              <a:rPr dirty="0"/>
              <a:t> de Corpo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Corpo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Corpo Quatro</a:t>
            </a:r>
          </a:p>
          <a:p>
            <a:pPr lvl="4"/>
            <a:r>
              <a:rPr dirty="0" err="1"/>
              <a:t>Nível</a:t>
            </a:r>
            <a:r>
              <a:rPr dirty="0"/>
              <a:t> de Corpo Cinco</a:t>
            </a:r>
          </a:p>
        </p:txBody>
      </p:sp>
      <p:sp>
        <p:nvSpPr>
          <p:cNvPr id="15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0429394" y="12635200"/>
            <a:ext cx="660922" cy="649488"/>
          </a:xfrm>
          <a:prstGeom prst="rect">
            <a:avLst/>
          </a:prstGeom>
        </p:spPr>
        <p:txBody>
          <a:bodyPr lIns="182847" tIns="182847" rIns="182847" bIns="182847" anchor="ctr">
            <a:normAutofit/>
          </a:bodyPr>
          <a:lstStyle>
            <a:lvl1pPr algn="r" defTabSz="1828800">
              <a:defRPr sz="2000">
                <a:solidFill>
                  <a:srgbClr val="595959"/>
                </a:solidFill>
                <a:latin typeface="PP Mori" pitchFamily="50" charset="0"/>
                <a:ea typeface="PP Mori" pitchFamily="50" charset="0"/>
                <a:cs typeface="PP Mori" pitchFamily="50" charset="0"/>
                <a:sym typeface="Arial"/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1871461" y="13081000"/>
            <a:ext cx="628378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PP Mori" pitchFamily="50" charset="0"/>
                <a:ea typeface="PP Mori" pitchFamily="50" charset="0"/>
                <a:cs typeface="PP Mori" pitchFamily="50" charset="0"/>
                <a:sym typeface="Helvetica Neue Light"/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F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CASSURANCE">
            <a:extLst>
              <a:ext uri="{FF2B5EF4-FFF2-40B4-BE49-F238E27FC236}">
                <a16:creationId xmlns:a16="http://schemas.microsoft.com/office/drawing/2014/main" id="{8E053259-1C26-70AF-A96C-E17290AF1714}"/>
              </a:ext>
            </a:extLst>
          </p:cNvPr>
          <p:cNvSpPr txBox="1"/>
          <p:nvPr/>
        </p:nvSpPr>
        <p:spPr>
          <a:xfrm>
            <a:off x="0" y="11623092"/>
            <a:ext cx="24384000" cy="32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1800" i="1" cap="all" spc="558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i="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</a:t>
            </a:r>
            <a:r>
              <a:rPr lang="pt-BR" i="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Institucional </a:t>
            </a:r>
            <a:r>
              <a:rPr i="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CONFIDENCIAL • 202</a:t>
            </a:r>
            <a:r>
              <a:rPr lang="pt-BR" i="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6</a:t>
            </a:r>
            <a:endParaRPr i="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2D09574-77A9-FFAD-00F9-DFBE30FF1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4225" y="5781675"/>
            <a:ext cx="101155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5541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6B29-307F-E0B4-EAC7-BED1B7F6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CASSURANCE">
            <a:extLst>
              <a:ext uri="{FF2B5EF4-FFF2-40B4-BE49-F238E27FC236}">
                <a16:creationId xmlns:a16="http://schemas.microsoft.com/office/drawing/2014/main" id="{5BB1EAB6-ABBC-999F-3027-76EB4F54D867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6" name="BANCASSURANCE">
            <a:extLst>
              <a:ext uri="{FF2B5EF4-FFF2-40B4-BE49-F238E27FC236}">
                <a16:creationId xmlns:a16="http://schemas.microsoft.com/office/drawing/2014/main" id="{00C7B10B-BC1A-1205-4B7C-4A0C005BB970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1B6FE7-999B-2810-022F-24A5D986E3EF}"/>
              </a:ext>
            </a:extLst>
          </p:cNvPr>
          <p:cNvSpPr txBox="1"/>
          <p:nvPr/>
        </p:nvSpPr>
        <p:spPr>
          <a:xfrm>
            <a:off x="803395" y="3246033"/>
            <a:ext cx="15838685" cy="78585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1828800">
              <a:lnSpc>
                <a:spcPct val="70000"/>
              </a:lnSpc>
              <a:spcBef>
                <a:spcPts val="0"/>
              </a:spcBef>
              <a:defRPr sz="20000" spc="-600">
                <a:latin typeface="NewJuneBold"/>
                <a:ea typeface="NewJuneBold"/>
                <a:cs typeface="NewJuneBold"/>
                <a:sym typeface="NewJuneBold"/>
              </a:defRPr>
            </a:pP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Somos movidos por inovação para criar produtos</a:t>
            </a:r>
            <a:b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</a:b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de seguros inteligentes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91B6DEF-4AC7-7CAE-F208-1C41376A9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21806" y="5437508"/>
            <a:ext cx="6937439" cy="5667087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BD5F140-164D-9480-E6D2-A0EE5F8A5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95" y="917922"/>
            <a:ext cx="2561596" cy="54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011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406D-358C-92DB-3453-5FD780E8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NCASSURANCE">
            <a:extLst>
              <a:ext uri="{FF2B5EF4-FFF2-40B4-BE49-F238E27FC236}">
                <a16:creationId xmlns:a16="http://schemas.microsoft.com/office/drawing/2014/main" id="{500CABC0-03ED-1D04-D393-90A162A4C0BD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9" name="BANCASSURANCE">
            <a:extLst>
              <a:ext uri="{FF2B5EF4-FFF2-40B4-BE49-F238E27FC236}">
                <a16:creationId xmlns:a16="http://schemas.microsoft.com/office/drawing/2014/main" id="{9EF2644F-DA08-DABE-8548-119D7E8AF863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6" name="BANCASSURANCE">
            <a:extLst>
              <a:ext uri="{FF2B5EF4-FFF2-40B4-BE49-F238E27FC236}">
                <a16:creationId xmlns:a16="http://schemas.microsoft.com/office/drawing/2014/main" id="{5F995609-E3CF-DBA6-B1E9-42B8D10F742A}"/>
              </a:ext>
            </a:extLst>
          </p:cNvPr>
          <p:cNvSpPr txBox="1"/>
          <p:nvPr/>
        </p:nvSpPr>
        <p:spPr>
          <a:xfrm>
            <a:off x="803395" y="788461"/>
            <a:ext cx="4111505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2438336">
              <a:lnSpc>
                <a:spcPct val="80000"/>
              </a:lnSpc>
              <a:spcBef>
                <a:spcPts val="0"/>
              </a:spcBef>
              <a:defRPr sz="2000" cap="all" spc="620"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Quem somos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E0DD3D07-D6F0-63C1-CAEC-5A50085DD290}"/>
              </a:ext>
            </a:extLst>
          </p:cNvPr>
          <p:cNvSpPr/>
          <p:nvPr/>
        </p:nvSpPr>
        <p:spPr>
          <a:xfrm>
            <a:off x="3714750" y="961217"/>
            <a:ext cx="17659350" cy="0"/>
          </a:xfrm>
          <a:prstGeom prst="line">
            <a:avLst/>
          </a:prstGeom>
          <a:ln w="38100">
            <a:solidFill>
              <a:srgbClr val="CFF74A"/>
            </a:solidFill>
            <a:miter/>
          </a:ln>
        </p:spPr>
        <p:txBody>
          <a:bodyPr lIns="91437" tIns="91437" rIns="91437" bIns="91437"/>
          <a:lstStyle/>
          <a:p>
            <a:pPr defTabSz="1828800">
              <a:spcBef>
                <a:spcPts val="0"/>
              </a:spcBef>
              <a:defRPr sz="2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4" name="Google Shape;124;p2">
            <a:extLst>
              <a:ext uri="{FF2B5EF4-FFF2-40B4-BE49-F238E27FC236}">
                <a16:creationId xmlns:a16="http://schemas.microsoft.com/office/drawing/2014/main" id="{878BA82C-0708-7C0C-DFEE-FF444DDBB498}"/>
              </a:ext>
            </a:extLst>
          </p:cNvPr>
          <p:cNvSpPr txBox="1"/>
          <p:nvPr/>
        </p:nvSpPr>
        <p:spPr>
          <a:xfrm>
            <a:off x="12085053" y="3285583"/>
            <a:ext cx="8856789" cy="1858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defTabSz="1828800">
              <a:lnSpc>
                <a:spcPct val="80000"/>
              </a:lnSpc>
              <a:spcBef>
                <a:spcPts val="0"/>
              </a:spcBef>
              <a:defRPr sz="6800">
                <a:latin typeface="NewJuneMedium"/>
                <a:ea typeface="NewJuneMedium"/>
                <a:cs typeface="NewJuneMedium"/>
                <a:sym typeface="NewJuneMedium"/>
              </a:defRPr>
            </a:pPr>
            <a:r>
              <a:rPr lang="pt-BR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Seguros, Previdência</a:t>
            </a:r>
            <a:br>
              <a:rPr lang="pt-BR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</a:br>
            <a:r>
              <a:rPr lang="pt-BR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e Capitalização. </a:t>
            </a:r>
          </a:p>
        </p:txBody>
      </p:sp>
      <p:sp>
        <p:nvSpPr>
          <p:cNvPr id="11" name="Google Shape;127;p2">
            <a:extLst>
              <a:ext uri="{FF2B5EF4-FFF2-40B4-BE49-F238E27FC236}">
                <a16:creationId xmlns:a16="http://schemas.microsoft.com/office/drawing/2014/main" id="{DBB3BF09-A446-7491-EB3B-4B1622A8E722}"/>
              </a:ext>
            </a:extLst>
          </p:cNvPr>
          <p:cNvSpPr txBox="1"/>
          <p:nvPr/>
        </p:nvSpPr>
        <p:spPr>
          <a:xfrm>
            <a:off x="12085053" y="5521856"/>
            <a:ext cx="9881636" cy="53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defTabSz="1828800">
              <a:lnSpc>
                <a:spcPct val="120000"/>
              </a:lnSpc>
              <a:spcBef>
                <a:spcPts val="0"/>
              </a:spcBef>
              <a:defRPr sz="3200"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2800" dirty="0">
                <a:latin typeface="PP Mori" pitchFamily="50" charset="0"/>
                <a:ea typeface="PP Mori" pitchFamily="50" charset="0"/>
                <a:cs typeface="PP Mori" pitchFamily="50" charset="0"/>
              </a:rPr>
              <a:t>A KEV é um grupo segurador formado por três frentes: Ramos Gerais, Previdência e Capitalização.</a:t>
            </a:r>
          </a:p>
          <a:p>
            <a:pPr defTabSz="1828800">
              <a:lnSpc>
                <a:spcPct val="120000"/>
              </a:lnSpc>
              <a:spcBef>
                <a:spcPts val="0"/>
              </a:spcBef>
              <a:defRPr sz="3200">
                <a:latin typeface="NewJuneRegular"/>
                <a:ea typeface="NewJuneRegular"/>
                <a:cs typeface="NewJuneRegular"/>
                <a:sym typeface="NewJuneRegular"/>
              </a:defRPr>
            </a:pPr>
            <a:endParaRPr lang="pt-BR" sz="2800" dirty="0"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pPr defTabSz="1828800">
              <a:lnSpc>
                <a:spcPct val="120000"/>
              </a:lnSpc>
              <a:spcBef>
                <a:spcPts val="0"/>
              </a:spcBef>
              <a:defRPr sz="3200"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2800" dirty="0">
                <a:latin typeface="PP Mori" pitchFamily="50" charset="0"/>
                <a:ea typeface="PP Mori" pitchFamily="50" charset="0"/>
                <a:cs typeface="PP Mori" pitchFamily="50" charset="0"/>
              </a:rPr>
              <a:t>O grupo nasceu da união de grandes líderes do setor, com uma missão clara: </a:t>
            </a:r>
            <a:r>
              <a:rPr lang="pt-BR" sz="2800" b="1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reinventar o seguro por meio da inovação e da tecnologia.</a:t>
            </a:r>
          </a:p>
          <a:p>
            <a:pPr defTabSz="1828800">
              <a:lnSpc>
                <a:spcPct val="120000"/>
              </a:lnSpc>
              <a:spcBef>
                <a:spcPts val="0"/>
              </a:spcBef>
              <a:defRPr sz="3200">
                <a:latin typeface="NewJuneRegular"/>
                <a:ea typeface="NewJuneRegular"/>
                <a:cs typeface="NewJuneRegular"/>
                <a:sym typeface="NewJuneRegular"/>
              </a:defRPr>
            </a:pPr>
            <a:endParaRPr lang="pt-BR" sz="2800" dirty="0"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pPr defTabSz="1828800">
              <a:lnSpc>
                <a:spcPct val="120000"/>
              </a:lnSpc>
              <a:spcBef>
                <a:spcPts val="0"/>
              </a:spcBef>
              <a:defRPr sz="3200"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2800" dirty="0">
                <a:latin typeface="PP Mori" pitchFamily="50" charset="0"/>
                <a:ea typeface="PP Mori" pitchFamily="50" charset="0"/>
                <a:cs typeface="PP Mori" pitchFamily="50" charset="0"/>
              </a:rPr>
              <a:t>Na KEV, fazemos diferente: partimos das necessidades reais das pessoas e empresas para criar soluções simples, inteligentes e conectadas com o cliente.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E964E593-2377-77DC-7D26-FE00487E0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6332" y="3285583"/>
            <a:ext cx="9240718" cy="7263241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F0D852E1-2DC3-0359-CD06-C03FB8E0D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47343" y="747141"/>
            <a:ext cx="1833261" cy="39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6181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C8168-AC02-7C9B-84EF-16EB84BD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NCASSURANCE">
            <a:extLst>
              <a:ext uri="{FF2B5EF4-FFF2-40B4-BE49-F238E27FC236}">
                <a16:creationId xmlns:a16="http://schemas.microsoft.com/office/drawing/2014/main" id="{09EAD859-35C2-EBCA-C8A2-12126A3C3C69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9" name="BANCASSURANCE">
            <a:extLst>
              <a:ext uri="{FF2B5EF4-FFF2-40B4-BE49-F238E27FC236}">
                <a16:creationId xmlns:a16="http://schemas.microsoft.com/office/drawing/2014/main" id="{2DAF49DE-6304-7D92-FF5F-91E420F0C91D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6" name="BANCASSURANCE">
            <a:extLst>
              <a:ext uri="{FF2B5EF4-FFF2-40B4-BE49-F238E27FC236}">
                <a16:creationId xmlns:a16="http://schemas.microsoft.com/office/drawing/2014/main" id="{C74021A2-EE4F-1CD3-7637-9A26FEBAE288}"/>
              </a:ext>
            </a:extLst>
          </p:cNvPr>
          <p:cNvSpPr txBox="1"/>
          <p:nvPr/>
        </p:nvSpPr>
        <p:spPr>
          <a:xfrm>
            <a:off x="803395" y="788461"/>
            <a:ext cx="4111505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2438336">
              <a:lnSpc>
                <a:spcPct val="80000"/>
              </a:lnSpc>
              <a:spcBef>
                <a:spcPts val="0"/>
              </a:spcBef>
              <a:defRPr sz="2000" cap="all" spc="620"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Quem somos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37844C85-662D-06DE-ECD1-63007160C335}"/>
              </a:ext>
            </a:extLst>
          </p:cNvPr>
          <p:cNvSpPr/>
          <p:nvPr/>
        </p:nvSpPr>
        <p:spPr>
          <a:xfrm>
            <a:off x="1317572" y="3755213"/>
            <a:ext cx="7050059" cy="1857551"/>
          </a:xfrm>
          <a:prstGeom prst="roundRect">
            <a:avLst>
              <a:gd name="adj" fmla="val 11443"/>
            </a:avLst>
          </a:prstGeom>
          <a:solidFill>
            <a:srgbClr val="CFF74A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7" name="Rounded Rectangle">
            <a:extLst>
              <a:ext uri="{FF2B5EF4-FFF2-40B4-BE49-F238E27FC236}">
                <a16:creationId xmlns:a16="http://schemas.microsoft.com/office/drawing/2014/main" id="{BF16B218-6D0E-D2C3-ACBB-AD9331527061}"/>
              </a:ext>
            </a:extLst>
          </p:cNvPr>
          <p:cNvSpPr/>
          <p:nvPr/>
        </p:nvSpPr>
        <p:spPr>
          <a:xfrm>
            <a:off x="1317572" y="8103237"/>
            <a:ext cx="7050059" cy="1857551"/>
          </a:xfrm>
          <a:prstGeom prst="roundRect">
            <a:avLst>
              <a:gd name="adj" fmla="val 11443"/>
            </a:avLst>
          </a:prstGeom>
          <a:solidFill>
            <a:srgbClr val="CFF74A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12" name="Rounded Rectangle">
            <a:extLst>
              <a:ext uri="{FF2B5EF4-FFF2-40B4-BE49-F238E27FC236}">
                <a16:creationId xmlns:a16="http://schemas.microsoft.com/office/drawing/2014/main" id="{0FED6EEC-BB9A-4C99-C05C-1984DF8EBF16}"/>
              </a:ext>
            </a:extLst>
          </p:cNvPr>
          <p:cNvSpPr/>
          <p:nvPr/>
        </p:nvSpPr>
        <p:spPr>
          <a:xfrm>
            <a:off x="1317572" y="5929225"/>
            <a:ext cx="7050059" cy="1857551"/>
          </a:xfrm>
          <a:prstGeom prst="roundRect">
            <a:avLst>
              <a:gd name="adj" fmla="val 11443"/>
            </a:avLst>
          </a:prstGeom>
          <a:solidFill>
            <a:schemeClr val="tx1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14" name="Google Shape;65;p14">
            <a:extLst>
              <a:ext uri="{FF2B5EF4-FFF2-40B4-BE49-F238E27FC236}">
                <a16:creationId xmlns:a16="http://schemas.microsoft.com/office/drawing/2014/main" id="{8699B4FC-748B-6892-117F-9233EA88A475}"/>
              </a:ext>
            </a:extLst>
          </p:cNvPr>
          <p:cNvSpPr txBox="1"/>
          <p:nvPr/>
        </p:nvSpPr>
        <p:spPr>
          <a:xfrm>
            <a:off x="2534174" y="4013417"/>
            <a:ext cx="4616854" cy="113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3400" spc="-102"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55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+R$ 2,6 Bi</a:t>
            </a:r>
          </a:p>
        </p:txBody>
      </p:sp>
      <p:sp>
        <p:nvSpPr>
          <p:cNvPr id="18" name="Google Shape;65;p14">
            <a:extLst>
              <a:ext uri="{FF2B5EF4-FFF2-40B4-BE49-F238E27FC236}">
                <a16:creationId xmlns:a16="http://schemas.microsoft.com/office/drawing/2014/main" id="{AAB68596-F9EE-8C1B-1992-90F445BC224F}"/>
              </a:ext>
            </a:extLst>
          </p:cNvPr>
          <p:cNvSpPr txBox="1"/>
          <p:nvPr/>
        </p:nvSpPr>
        <p:spPr>
          <a:xfrm>
            <a:off x="2601286" y="8304291"/>
            <a:ext cx="4482630" cy="113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3400" spc="-102"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55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+50 anos</a:t>
            </a:r>
          </a:p>
        </p:txBody>
      </p:sp>
      <p:sp>
        <p:nvSpPr>
          <p:cNvPr id="21" name="Google Shape;65;p14">
            <a:extLst>
              <a:ext uri="{FF2B5EF4-FFF2-40B4-BE49-F238E27FC236}">
                <a16:creationId xmlns:a16="http://schemas.microsoft.com/office/drawing/2014/main" id="{E569170D-F8C7-B2DC-0002-E09E40EEFC10}"/>
              </a:ext>
            </a:extLst>
          </p:cNvPr>
          <p:cNvSpPr txBox="1"/>
          <p:nvPr/>
        </p:nvSpPr>
        <p:spPr>
          <a:xfrm>
            <a:off x="2753088" y="4818219"/>
            <a:ext cx="4179027" cy="660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2100" spc="-63">
                <a:latin typeface="NewJuneRegular"/>
                <a:ea typeface="NewJuneRegular"/>
                <a:cs typeface="NewJuneRegular"/>
                <a:sym typeface="NewJuneRegular"/>
              </a:defRPr>
            </a:lvl1pPr>
          </a:lstStyle>
          <a:p>
            <a:r>
              <a:rPr lang="pt-BR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de faturamento no ano de 2025</a:t>
            </a:r>
          </a:p>
        </p:txBody>
      </p:sp>
      <p:sp>
        <p:nvSpPr>
          <p:cNvPr id="23" name="Google Shape;65;p14">
            <a:extLst>
              <a:ext uri="{FF2B5EF4-FFF2-40B4-BE49-F238E27FC236}">
                <a16:creationId xmlns:a16="http://schemas.microsoft.com/office/drawing/2014/main" id="{96053C7A-1AB8-D5C0-94B9-AFFA0B4A3237}"/>
              </a:ext>
            </a:extLst>
          </p:cNvPr>
          <p:cNvSpPr txBox="1"/>
          <p:nvPr/>
        </p:nvSpPr>
        <p:spPr>
          <a:xfrm>
            <a:off x="2301945" y="9089087"/>
            <a:ext cx="5081312" cy="692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2100" spc="-63">
                <a:latin typeface="NewJuneRegular"/>
                <a:ea typeface="NewJuneRegular"/>
                <a:cs typeface="NewJuneRegular"/>
                <a:sym typeface="NewJuneRegular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de história do Grupo KEV</a:t>
            </a:r>
          </a:p>
        </p:txBody>
      </p:sp>
      <p:sp>
        <p:nvSpPr>
          <p:cNvPr id="25" name="Google Shape;65;p14">
            <a:extLst>
              <a:ext uri="{FF2B5EF4-FFF2-40B4-BE49-F238E27FC236}">
                <a16:creationId xmlns:a16="http://schemas.microsoft.com/office/drawing/2014/main" id="{B310490B-D071-2E28-1F1B-71A838B45D0F}"/>
              </a:ext>
            </a:extLst>
          </p:cNvPr>
          <p:cNvSpPr txBox="1"/>
          <p:nvPr/>
        </p:nvSpPr>
        <p:spPr>
          <a:xfrm>
            <a:off x="1560652" y="6130279"/>
            <a:ext cx="6563899" cy="113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3400" spc="-102"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5500" dirty="0">
                <a:solidFill>
                  <a:srgbClr val="CFF74A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+ 28MM</a:t>
            </a:r>
          </a:p>
        </p:txBody>
      </p:sp>
      <p:sp>
        <p:nvSpPr>
          <p:cNvPr id="27" name="Google Shape;65;p14">
            <a:extLst>
              <a:ext uri="{FF2B5EF4-FFF2-40B4-BE49-F238E27FC236}">
                <a16:creationId xmlns:a16="http://schemas.microsoft.com/office/drawing/2014/main" id="{EFE83466-F574-63AA-0087-1A7A278DA2C2}"/>
              </a:ext>
            </a:extLst>
          </p:cNvPr>
          <p:cNvSpPr txBox="1"/>
          <p:nvPr/>
        </p:nvSpPr>
        <p:spPr>
          <a:xfrm>
            <a:off x="2342559" y="6915075"/>
            <a:ext cx="5000084" cy="692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2100" spc="-63">
                <a:latin typeface="NewJuneRegular"/>
                <a:ea typeface="NewJuneRegular"/>
                <a:cs typeface="NewJuneRegular"/>
                <a:sym typeface="NewJuneRegular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solidFill>
                  <a:schemeClr val="bg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de apólices emitidas em 5 anos</a:t>
            </a:r>
          </a:p>
        </p:txBody>
      </p:sp>
      <p:sp>
        <p:nvSpPr>
          <p:cNvPr id="29" name="Rounded Rectangle">
            <a:extLst>
              <a:ext uri="{FF2B5EF4-FFF2-40B4-BE49-F238E27FC236}">
                <a16:creationId xmlns:a16="http://schemas.microsoft.com/office/drawing/2014/main" id="{908FF146-7CFF-71FE-E549-A0CAB2742903}"/>
              </a:ext>
            </a:extLst>
          </p:cNvPr>
          <p:cNvSpPr/>
          <p:nvPr/>
        </p:nvSpPr>
        <p:spPr>
          <a:xfrm>
            <a:off x="8666971" y="3755213"/>
            <a:ext cx="7050058" cy="6205574"/>
          </a:xfrm>
          <a:prstGeom prst="roundRect">
            <a:avLst>
              <a:gd name="adj" fmla="val 3920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1" name="Google Shape;124;p2">
            <a:extLst>
              <a:ext uri="{FF2B5EF4-FFF2-40B4-BE49-F238E27FC236}">
                <a16:creationId xmlns:a16="http://schemas.microsoft.com/office/drawing/2014/main" id="{0B8D6816-C22F-A898-96C5-E2406DF58D78}"/>
              </a:ext>
            </a:extLst>
          </p:cNvPr>
          <p:cNvSpPr txBox="1"/>
          <p:nvPr/>
        </p:nvSpPr>
        <p:spPr>
          <a:xfrm>
            <a:off x="9358395" y="4549718"/>
            <a:ext cx="5667210" cy="4616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algn="ctr" defTabSz="1828800">
              <a:spcBef>
                <a:spcPts val="0"/>
              </a:spcBef>
              <a:defRPr sz="6800">
                <a:latin typeface="NewJuneMedium"/>
                <a:ea typeface="NewJuneMedium"/>
                <a:cs typeface="NewJuneMedium"/>
                <a:sym typeface="NewJuneMedium"/>
              </a:defRPr>
            </a:pPr>
            <a:r>
              <a:rPr lang="pt-BR" sz="3200" dirty="0">
                <a:latin typeface="PP Mori Semibold" pitchFamily="50" charset="0"/>
                <a:ea typeface="PP Mori" pitchFamily="50" charset="0"/>
                <a:cs typeface="PP Mori" pitchFamily="50" charset="0"/>
                <a:sym typeface="NewJuneMedium"/>
              </a:rPr>
              <a:t>Com mais de 50 anos de experiência reunida</a:t>
            </a:r>
            <a:r>
              <a:rPr lang="pt-BR" sz="3200" dirty="0">
                <a:latin typeface="PP Mori" pitchFamily="50" charset="0"/>
                <a:ea typeface="PP Mori" pitchFamily="50" charset="0"/>
                <a:cs typeface="PP Mori" pitchFamily="50" charset="0"/>
                <a:sym typeface="NewJuneMedium"/>
              </a:rPr>
              <a:t>, ultrapassamos R$ 2,6 bilhões em faturamento em 2025, e alcançando o marco de mais de 28 milhões de apólices emitidas pela plataforma tecnológica da KEV em 5 anos</a:t>
            </a:r>
          </a:p>
        </p:txBody>
      </p:sp>
      <p:sp>
        <p:nvSpPr>
          <p:cNvPr id="33" name="Rounded Rectangle">
            <a:extLst>
              <a:ext uri="{FF2B5EF4-FFF2-40B4-BE49-F238E27FC236}">
                <a16:creationId xmlns:a16="http://schemas.microsoft.com/office/drawing/2014/main" id="{F23E124C-13A3-33F8-AF26-433EE58287FC}"/>
              </a:ext>
            </a:extLst>
          </p:cNvPr>
          <p:cNvSpPr/>
          <p:nvPr/>
        </p:nvSpPr>
        <p:spPr>
          <a:xfrm>
            <a:off x="16016369" y="3755213"/>
            <a:ext cx="7050058" cy="6205574"/>
          </a:xfrm>
          <a:prstGeom prst="roundRect">
            <a:avLst>
              <a:gd name="adj" fmla="val 3920"/>
            </a:avLst>
          </a:prstGeom>
          <a:solidFill>
            <a:srgbClr val="CFF74A"/>
          </a:solidFill>
          <a:ln w="12700">
            <a:noFill/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5" name="Google Shape;65;p14">
            <a:extLst>
              <a:ext uri="{FF2B5EF4-FFF2-40B4-BE49-F238E27FC236}">
                <a16:creationId xmlns:a16="http://schemas.microsoft.com/office/drawing/2014/main" id="{820D9E50-373A-F887-B446-C7502F06F64D}"/>
              </a:ext>
            </a:extLst>
          </p:cNvPr>
          <p:cNvSpPr txBox="1"/>
          <p:nvPr/>
        </p:nvSpPr>
        <p:spPr>
          <a:xfrm>
            <a:off x="16648526" y="5177991"/>
            <a:ext cx="5785742" cy="2252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82847" tIns="182847" rIns="182847" bIns="182847" anchor="b">
            <a:spAutoFit/>
          </a:bodyPr>
          <a:lstStyle>
            <a:lvl1pPr algn="ctr" defTabSz="1828800">
              <a:lnSpc>
                <a:spcPct val="90000"/>
              </a:lnSpc>
              <a:spcBef>
                <a:spcPts val="0"/>
              </a:spcBef>
              <a:defRPr sz="3400" spc="-102"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68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+170% de crescimento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5D43D71-12D7-4A63-B582-1A217ABCA6B2}"/>
              </a:ext>
            </a:extLst>
          </p:cNvPr>
          <p:cNvSpPr txBox="1"/>
          <p:nvPr/>
        </p:nvSpPr>
        <p:spPr>
          <a:xfrm>
            <a:off x="16880130" y="7379017"/>
            <a:ext cx="5322533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pt-BR" sz="3200" dirty="0">
                <a:latin typeface="PP Mori" pitchFamily="50" charset="0"/>
                <a:sym typeface="NewJuneMedium"/>
              </a:rPr>
              <a:t>de faturamento do grupo desde a nova gestão. </a:t>
            </a:r>
            <a:endParaRPr lang="pt-BR" sz="3200" dirty="0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86BCB54C-2039-9F26-B0B0-CD59B2E2FBA3}"/>
              </a:ext>
            </a:extLst>
          </p:cNvPr>
          <p:cNvSpPr/>
          <p:nvPr/>
        </p:nvSpPr>
        <p:spPr>
          <a:xfrm>
            <a:off x="3714750" y="961217"/>
            <a:ext cx="17659350" cy="0"/>
          </a:xfrm>
          <a:prstGeom prst="line">
            <a:avLst/>
          </a:prstGeom>
          <a:ln w="38100">
            <a:solidFill>
              <a:srgbClr val="CFF74A"/>
            </a:solidFill>
            <a:miter/>
          </a:ln>
        </p:spPr>
        <p:txBody>
          <a:bodyPr lIns="91437" tIns="91437" rIns="91437" bIns="91437"/>
          <a:lstStyle/>
          <a:p>
            <a:pPr defTabSz="1828800">
              <a:spcBef>
                <a:spcPts val="0"/>
              </a:spcBef>
              <a:defRPr sz="2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7DD242E4-E7BA-B5D2-302A-9987306A3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47343" y="747141"/>
            <a:ext cx="1833261" cy="39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825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F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17;p13"/>
          <p:cNvSpPr txBox="1"/>
          <p:nvPr/>
        </p:nvSpPr>
        <p:spPr>
          <a:xfrm>
            <a:off x="2929506" y="1691517"/>
            <a:ext cx="18524986" cy="86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98" tIns="91398" rIns="91398" bIns="91398">
            <a:spAutoFit/>
          </a:bodyPr>
          <a:lstStyle>
            <a:lvl1pPr algn="ctr" defTabSz="1828800">
              <a:lnSpc>
                <a:spcPct val="80000"/>
              </a:lnSpc>
              <a:spcBef>
                <a:spcPts val="0"/>
              </a:spcBef>
              <a:defRPr sz="5500">
                <a:solidFill>
                  <a:srgbClr val="282828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Nossos</a:t>
            </a:r>
            <a:r>
              <a:rPr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principais</a:t>
            </a:r>
            <a:r>
              <a:rPr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dirty="0" err="1">
                <a:latin typeface="PP Mori Semibold" pitchFamily="50" charset="0"/>
                <a:ea typeface="PP Mori" pitchFamily="50" charset="0"/>
                <a:cs typeface="PP Mori" pitchFamily="50" charset="0"/>
              </a:rPr>
              <a:t>parceiros</a:t>
            </a:r>
            <a:r>
              <a:rPr dirty="0">
                <a:latin typeface="PP Mori Semibold" pitchFamily="50" charset="0"/>
                <a:ea typeface="PP Mori" pitchFamily="50" charset="0"/>
                <a:cs typeface="PP Mori" pitchFamily="50" charset="0"/>
              </a:rPr>
              <a:t> de </a:t>
            </a:r>
            <a:r>
              <a:rPr dirty="0" err="1">
                <a:latin typeface="PP Mori Semibold" pitchFamily="50" charset="0"/>
                <a:ea typeface="PP Mori" pitchFamily="50" charset="0"/>
                <a:cs typeface="PP Mori" pitchFamily="50" charset="0"/>
              </a:rPr>
              <a:t>negócios</a:t>
            </a:r>
            <a:r>
              <a:rPr lang="pt-BR" dirty="0">
                <a:latin typeface="PP Mori Semibold" pitchFamily="50" charset="0"/>
                <a:ea typeface="PP Mori" pitchFamily="50" charset="0"/>
                <a:cs typeface="PP Mori" pitchFamily="50" charset="0"/>
              </a:rPr>
              <a:t>.</a:t>
            </a:r>
            <a:endParaRPr dirty="0">
              <a:latin typeface="PP Mori Semibold" pitchFamily="50" charset="0"/>
              <a:ea typeface="PP Mori" pitchFamily="50" charset="0"/>
              <a:cs typeface="PP Mori" pitchFamily="50" charset="0"/>
            </a:endParaRP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CCEA98CF-DD70-99D3-9C8B-1A71F7D7F362}"/>
              </a:ext>
            </a:extLst>
          </p:cNvPr>
          <p:cNvGrpSpPr/>
          <p:nvPr/>
        </p:nvGrpSpPr>
        <p:grpSpPr>
          <a:xfrm>
            <a:off x="-1" y="8679598"/>
            <a:ext cx="24384001" cy="5036402"/>
            <a:chOff x="0" y="4339799"/>
            <a:chExt cx="12192000" cy="2518201"/>
          </a:xfrm>
        </p:grpSpPr>
        <p:pic>
          <p:nvPicPr>
            <p:cNvPr id="27" name="Imagem 26" descr="Fundo do mar&#10;&#10;O conteúdo gerado por IA pode estar incorreto.">
              <a:extLst>
                <a:ext uri="{FF2B5EF4-FFF2-40B4-BE49-F238E27FC236}">
                  <a16:creationId xmlns:a16="http://schemas.microsoft.com/office/drawing/2014/main" id="{E00AAA90-4D46-06E7-7128-3AF57020B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265" b="13017"/>
            <a:stretch>
              <a:fillRect/>
            </a:stretch>
          </p:blipFill>
          <p:spPr>
            <a:xfrm>
              <a:off x="0" y="4339799"/>
              <a:ext cx="12192000" cy="2518201"/>
            </a:xfrm>
            <a:prstGeom prst="rect">
              <a:avLst/>
            </a:prstGeom>
          </p:spPr>
        </p:pic>
        <p:pic>
          <p:nvPicPr>
            <p:cNvPr id="28" name="Imagem 27" descr="Logotipo&#10;&#10;O conteúdo gerado por IA pode estar incorreto.">
              <a:extLst>
                <a:ext uri="{FF2B5EF4-FFF2-40B4-BE49-F238E27FC236}">
                  <a16:creationId xmlns:a16="http://schemas.microsoft.com/office/drawing/2014/main" id="{06B1F56A-92DC-8BFF-35D2-6060FC568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94" b="34212"/>
            <a:stretch>
              <a:fillRect/>
            </a:stretch>
          </p:blipFill>
          <p:spPr>
            <a:xfrm>
              <a:off x="4305912" y="4808252"/>
              <a:ext cx="3580176" cy="948404"/>
            </a:xfrm>
            <a:prstGeom prst="rect">
              <a:avLst/>
            </a:prstGeom>
          </p:spPr>
        </p:pic>
        <p:sp>
          <p:nvSpPr>
            <p:cNvPr id="29" name="Google Shape;317;p13">
              <a:extLst>
                <a:ext uri="{FF2B5EF4-FFF2-40B4-BE49-F238E27FC236}">
                  <a16:creationId xmlns:a16="http://schemas.microsoft.com/office/drawing/2014/main" id="{FD7DA044-32C6-4D33-3ADC-C389E7E0E244}"/>
                </a:ext>
              </a:extLst>
            </p:cNvPr>
            <p:cNvSpPr txBox="1"/>
            <p:nvPr/>
          </p:nvSpPr>
          <p:spPr>
            <a:xfrm>
              <a:off x="3192569" y="5849852"/>
              <a:ext cx="5806863" cy="5385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>
              <a:spAutoFit/>
            </a:bodyPr>
            <a:lstStyle>
              <a:lvl1pPr algn="ctr" defTabSz="1828800">
                <a:lnSpc>
                  <a:spcPct val="80000"/>
                </a:lnSpc>
                <a:spcBef>
                  <a:spcPts val="0"/>
                </a:spcBef>
                <a:defRPr sz="5500">
                  <a:solidFill>
                    <a:srgbClr val="282828"/>
                  </a:solidFill>
                  <a:latin typeface="NewJuneMedium"/>
                  <a:ea typeface="NewJuneMedium"/>
                  <a:cs typeface="NewJuneMedium"/>
                  <a:sym typeface="NewJuneMedium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pt-BR" sz="3200" b="1" dirty="0">
                  <a:solidFill>
                    <a:schemeClr val="bg1"/>
                  </a:solidFill>
                  <a:latin typeface="PP Mori Semibold" pitchFamily="50" charset="0"/>
                  <a:ea typeface="PP Mori" pitchFamily="50" charset="0"/>
                  <a:cs typeface="PP Mori" pitchFamily="50" charset="0"/>
                </a:rPr>
                <a:t>O primeiro produto de seguro do mundo </a:t>
              </a:r>
              <a:r>
                <a:rPr lang="pt-BR" sz="3200" dirty="0">
                  <a:solidFill>
                    <a:schemeClr val="bg1"/>
                  </a:solidFill>
                  <a:latin typeface="PP Mori" pitchFamily="50" charset="0"/>
                  <a:ea typeface="PP Mori" pitchFamily="50" charset="0"/>
                  <a:cs typeface="PP Mori" pitchFamily="50" charset="0"/>
                </a:rPr>
                <a:t>que leva streaming para o mercado global de seguros.</a:t>
              </a:r>
              <a:endParaRPr lang="en-US" sz="3200" dirty="0">
                <a:solidFill>
                  <a:schemeClr val="bg1"/>
                </a:solidFill>
                <a:latin typeface="PP Mori" pitchFamily="50" charset="0"/>
                <a:ea typeface="PP Mori" pitchFamily="50" charset="0"/>
                <a:cs typeface="PP Mori" pitchFamily="50" charset="0"/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928AC6A-90BF-8C4E-30A5-5A8084907E5D}"/>
              </a:ext>
            </a:extLst>
          </p:cNvPr>
          <p:cNvGrpSpPr/>
          <p:nvPr/>
        </p:nvGrpSpPr>
        <p:grpSpPr>
          <a:xfrm>
            <a:off x="6270750" y="3701590"/>
            <a:ext cx="11842499" cy="1388913"/>
            <a:chOff x="4010079" y="3937319"/>
            <a:chExt cx="11842499" cy="1388913"/>
          </a:xfrm>
        </p:grpSpPr>
        <p:pic>
          <p:nvPicPr>
            <p:cNvPr id="15" name="pasted-image.pdf" descr="pasted-image.pdf">
              <a:extLst>
                <a:ext uri="{FF2B5EF4-FFF2-40B4-BE49-F238E27FC236}">
                  <a16:creationId xmlns:a16="http://schemas.microsoft.com/office/drawing/2014/main" id="{80B295DD-8B5C-E5B3-FDBF-D69A3EBD7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19703" y="4195615"/>
              <a:ext cx="2932875" cy="87232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0" name="Imagem 15" descr="Imagem 15">
              <a:extLst>
                <a:ext uri="{FF2B5EF4-FFF2-40B4-BE49-F238E27FC236}">
                  <a16:creationId xmlns:a16="http://schemas.microsoft.com/office/drawing/2014/main" id="{CBF1BAF0-0903-EF56-2D83-B3F9653B5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9931" t="12895" r="30414" b="10074"/>
            <a:stretch>
              <a:fillRect/>
            </a:stretch>
          </p:blipFill>
          <p:spPr>
            <a:xfrm>
              <a:off x="6792360" y="3937319"/>
              <a:ext cx="1361933" cy="138891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1" name="pasted-image.pdf" descr="pasted-image.pdf">
              <a:extLst>
                <a:ext uri="{FF2B5EF4-FFF2-40B4-BE49-F238E27FC236}">
                  <a16:creationId xmlns:a16="http://schemas.microsoft.com/office/drawing/2014/main" id="{3BA32CA1-709A-DF0A-A006-5625EC2E2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0079" y="3956932"/>
              <a:ext cx="1483523" cy="134968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" name="pasted-image.pdf" descr="pasted-image.pdf">
              <a:extLst>
                <a:ext uri="{FF2B5EF4-FFF2-40B4-BE49-F238E27FC236}">
                  <a16:creationId xmlns:a16="http://schemas.microsoft.com/office/drawing/2014/main" id="{6838242D-F6F0-3AB2-5C40-B579575E6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31700" y="4213450"/>
              <a:ext cx="2593889" cy="836651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0425474-CE03-0441-9434-38527EFD9D2B}"/>
              </a:ext>
            </a:extLst>
          </p:cNvPr>
          <p:cNvGrpSpPr/>
          <p:nvPr/>
        </p:nvGrpSpPr>
        <p:grpSpPr>
          <a:xfrm>
            <a:off x="5687645" y="5784919"/>
            <a:ext cx="13008708" cy="1746296"/>
            <a:chOff x="5249336" y="5965917"/>
            <a:chExt cx="13008708" cy="1746296"/>
          </a:xfrm>
        </p:grpSpPr>
        <p:pic>
          <p:nvPicPr>
            <p:cNvPr id="17" name="TELEFONICA_LOGO_V01_Prancheta 1.png" descr="TELEFONICA_LOGO_V01_Prancheta 1.png">
              <a:extLst>
                <a:ext uri="{FF2B5EF4-FFF2-40B4-BE49-F238E27FC236}">
                  <a16:creationId xmlns:a16="http://schemas.microsoft.com/office/drawing/2014/main" id="{C531B747-CF8B-7155-5B37-15875982E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2405" t="34159" r="21748" b="35406"/>
            <a:stretch>
              <a:fillRect/>
            </a:stretch>
          </p:blipFill>
          <p:spPr>
            <a:xfrm>
              <a:off x="5249336" y="6359049"/>
              <a:ext cx="3233364" cy="991168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8" name="natura-logo-5-1.png" descr="natura-logo-5-1.png">
              <a:extLst>
                <a:ext uri="{FF2B5EF4-FFF2-40B4-BE49-F238E27FC236}">
                  <a16:creationId xmlns:a16="http://schemas.microsoft.com/office/drawing/2014/main" id="{80602509-9BE1-CFA7-0AF7-4F3AF474D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205896" y="5965917"/>
              <a:ext cx="2139108" cy="162940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8105D367-2760-F93B-288C-2B4B3A40A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18312" y="5997053"/>
              <a:ext cx="1742244" cy="1715160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1C33CE05-95A3-D272-1974-66985B22D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3470" y="6129767"/>
              <a:ext cx="3034574" cy="1388913"/>
            </a:xfrm>
            <a:prstGeom prst="rect">
              <a:avLst/>
            </a:prstGeom>
          </p:spPr>
        </p:pic>
      </p:grpSp>
      <p:sp>
        <p:nvSpPr>
          <p:cNvPr id="6" name="BANCASSURANCE">
            <a:extLst>
              <a:ext uri="{FF2B5EF4-FFF2-40B4-BE49-F238E27FC236}">
                <a16:creationId xmlns:a16="http://schemas.microsoft.com/office/drawing/2014/main" id="{553D8256-0AC0-8DA7-0DA7-033BE57E2369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rgbClr val="CFF74A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rgbClr val="CFF74A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8" name="BANCASSURANCE">
            <a:extLst>
              <a:ext uri="{FF2B5EF4-FFF2-40B4-BE49-F238E27FC236}">
                <a16:creationId xmlns:a16="http://schemas.microsoft.com/office/drawing/2014/main" id="{A98328DE-5AFB-203C-513E-829062084DBD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rgbClr val="CFF74A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rgbClr val="CFF74A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F7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86B29-307F-E0B4-EAC7-BED1B7F6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CASSURANCE">
            <a:extLst>
              <a:ext uri="{FF2B5EF4-FFF2-40B4-BE49-F238E27FC236}">
                <a16:creationId xmlns:a16="http://schemas.microsoft.com/office/drawing/2014/main" id="{5BB1EAB6-ABBC-999F-3027-76EB4F54D867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6" name="BANCASSURANCE">
            <a:extLst>
              <a:ext uri="{FF2B5EF4-FFF2-40B4-BE49-F238E27FC236}">
                <a16:creationId xmlns:a16="http://schemas.microsoft.com/office/drawing/2014/main" id="{00C7B10B-BC1A-1205-4B7C-4A0C005BB970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1B6FE7-999B-2810-022F-24A5D986E3EF}"/>
              </a:ext>
            </a:extLst>
          </p:cNvPr>
          <p:cNvSpPr txBox="1"/>
          <p:nvPr/>
        </p:nvSpPr>
        <p:spPr>
          <a:xfrm>
            <a:off x="803395" y="5277359"/>
            <a:ext cx="15838685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14400"/>
              </a:lnSpc>
              <a:spcBef>
                <a:spcPts val="0"/>
              </a:spcBef>
            </a:pP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Nossos</a:t>
            </a:r>
          </a:p>
          <a:p>
            <a:pPr>
              <a:lnSpc>
                <a:spcPts val="14400"/>
              </a:lnSpc>
              <a:spcBef>
                <a:spcPts val="0"/>
              </a:spcBef>
            </a:pP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Seguros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C65DDBC-0927-A41A-633A-3739AF111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95" y="917922"/>
            <a:ext cx="3995928" cy="6225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F8A6B877-26D5-E835-88D9-77DA5DF66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8888" y="3051842"/>
            <a:ext cx="12455408" cy="761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237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174B6-2449-C90B-ABFE-A4823060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NCASSURANCE">
            <a:extLst>
              <a:ext uri="{FF2B5EF4-FFF2-40B4-BE49-F238E27FC236}">
                <a16:creationId xmlns:a16="http://schemas.microsoft.com/office/drawing/2014/main" id="{1FEC313E-B1C3-AE45-85EB-01951F11275A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9" name="BANCASSURANCE">
            <a:extLst>
              <a:ext uri="{FF2B5EF4-FFF2-40B4-BE49-F238E27FC236}">
                <a16:creationId xmlns:a16="http://schemas.microsoft.com/office/drawing/2014/main" id="{C925DF16-E347-F018-A84D-B3FC13F57CE0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6" name="BANCASSURANCE">
            <a:extLst>
              <a:ext uri="{FF2B5EF4-FFF2-40B4-BE49-F238E27FC236}">
                <a16:creationId xmlns:a16="http://schemas.microsoft.com/office/drawing/2014/main" id="{7764DA8B-D810-78BC-5FD5-FD6BD81BD4B2}"/>
              </a:ext>
            </a:extLst>
          </p:cNvPr>
          <p:cNvSpPr txBox="1"/>
          <p:nvPr/>
        </p:nvSpPr>
        <p:spPr>
          <a:xfrm>
            <a:off x="803395" y="788461"/>
            <a:ext cx="4111505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2438336">
              <a:lnSpc>
                <a:spcPct val="80000"/>
              </a:lnSpc>
              <a:spcBef>
                <a:spcPts val="0"/>
              </a:spcBef>
              <a:defRPr sz="2000" cap="all" spc="620"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Nossos SEGUROS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478D0B84-57FC-A3BC-2B44-0B2416CE6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52774" y="709795"/>
            <a:ext cx="3227831" cy="502843"/>
          </a:xfrm>
          <a:prstGeom prst="rect">
            <a:avLst/>
          </a:prstGeom>
        </p:spPr>
      </p:pic>
      <p:sp>
        <p:nvSpPr>
          <p:cNvPr id="19" name="Line">
            <a:extLst>
              <a:ext uri="{FF2B5EF4-FFF2-40B4-BE49-F238E27FC236}">
                <a16:creationId xmlns:a16="http://schemas.microsoft.com/office/drawing/2014/main" id="{1530E853-CC0B-E4BA-3C57-FD791551DC56}"/>
              </a:ext>
            </a:extLst>
          </p:cNvPr>
          <p:cNvSpPr/>
          <p:nvPr/>
        </p:nvSpPr>
        <p:spPr>
          <a:xfrm>
            <a:off x="4572000" y="961217"/>
            <a:ext cx="15408094" cy="0"/>
          </a:xfrm>
          <a:prstGeom prst="line">
            <a:avLst/>
          </a:prstGeom>
          <a:ln w="38100">
            <a:solidFill>
              <a:srgbClr val="CFF74A"/>
            </a:solidFill>
            <a:miter/>
          </a:ln>
        </p:spPr>
        <p:txBody>
          <a:bodyPr lIns="91437" tIns="91437" rIns="91437" bIns="91437"/>
          <a:lstStyle/>
          <a:p>
            <a:pPr defTabSz="1828800">
              <a:spcBef>
                <a:spcPts val="0"/>
              </a:spcBef>
              <a:defRPr sz="2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18" name="Google Shape;124;p2"/>
          <p:cNvSpPr txBox="1"/>
          <p:nvPr/>
        </p:nvSpPr>
        <p:spPr>
          <a:xfrm>
            <a:off x="803395" y="4010056"/>
            <a:ext cx="7396038" cy="1021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>
            <a:spAutoFit/>
          </a:bodyPr>
          <a:lstStyle/>
          <a:p>
            <a:pPr defTabSz="1828800">
              <a:lnSpc>
                <a:spcPct val="80000"/>
              </a:lnSpc>
              <a:spcBef>
                <a:spcPts val="0"/>
              </a:spcBef>
              <a:defRPr sz="6800">
                <a:latin typeface="NewJuneMedium"/>
                <a:ea typeface="NewJuneMedium"/>
                <a:cs typeface="NewJuneMedium"/>
                <a:sym typeface="NewJuneMedium"/>
              </a:defRPr>
            </a:pPr>
            <a:r>
              <a:rPr lang="pt-BR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Nossos Seguros</a:t>
            </a:r>
          </a:p>
        </p:txBody>
      </p:sp>
      <p:sp>
        <p:nvSpPr>
          <p:cNvPr id="324" name="Google Shape;164;p5"/>
          <p:cNvSpPr txBox="1"/>
          <p:nvPr/>
        </p:nvSpPr>
        <p:spPr>
          <a:xfrm>
            <a:off x="803397" y="5471670"/>
            <a:ext cx="8185495" cy="4465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>
            <a:lvl1pPr defTabSz="1828800">
              <a:lnSpc>
                <a:spcPct val="120000"/>
              </a:lnSpc>
              <a:spcBef>
                <a:spcPts val="0"/>
              </a:spcBef>
              <a:defRPr sz="3400">
                <a:latin typeface="NewJuneRegular"/>
                <a:ea typeface="NewJuneRegular"/>
                <a:cs typeface="NewJuneRegular"/>
                <a:sym typeface="NewJuneRegular"/>
              </a:defRPr>
            </a:lvl1pPr>
          </a:lstStyle>
          <a:p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Trazemos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diversos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planos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e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coberturas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modulares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que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proporcionam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liberdade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,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além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de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atendimento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à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serviços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emergenciais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que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salvam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o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dia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a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dia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da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sua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empresa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 e </a:t>
            </a:r>
            <a:r>
              <a:rPr sz="2600" dirty="0" err="1">
                <a:latin typeface="PP Mori" pitchFamily="50" charset="0"/>
                <a:ea typeface="PP Mori" pitchFamily="50" charset="0"/>
                <a:cs typeface="PP Mori" pitchFamily="50" charset="0"/>
              </a:rPr>
              <a:t>empresário</a:t>
            </a:r>
            <a:r>
              <a:rPr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.</a:t>
            </a:r>
            <a:endParaRPr lang="pt-BR" sz="2600" dirty="0"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endParaRPr lang="pt-BR" sz="2600" dirty="0"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r>
              <a:rPr lang="pt-BR" sz="2600" dirty="0">
                <a:latin typeface="PP Mori" pitchFamily="50" charset="0"/>
                <a:ea typeface="PP Mori" pitchFamily="50" charset="0"/>
                <a:cs typeface="PP Mori" pitchFamily="50" charset="0"/>
              </a:rPr>
              <a:t>Seguros com diversas coberturas, assistências essenciais para o conforto da família e serviços emergenciais 24h para resolver problemas e reparos do dia a dia.</a:t>
            </a:r>
            <a:endParaRPr sz="2600"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25" name="Retângulo Arredondado"/>
          <p:cNvSpPr/>
          <p:nvPr/>
        </p:nvSpPr>
        <p:spPr>
          <a:xfrm>
            <a:off x="9879406" y="1757517"/>
            <a:ext cx="13701195" cy="8719983"/>
          </a:xfrm>
          <a:prstGeom prst="roundRect">
            <a:avLst>
              <a:gd name="adj" fmla="val 2635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26" name="Google Shape;164;p5"/>
          <p:cNvSpPr txBox="1"/>
          <p:nvPr/>
        </p:nvSpPr>
        <p:spPr>
          <a:xfrm>
            <a:off x="10772285" y="2232364"/>
            <a:ext cx="3014564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VIDA</a:t>
            </a:r>
          </a:p>
        </p:txBody>
      </p:sp>
      <p:sp>
        <p:nvSpPr>
          <p:cNvPr id="327" name="Google Shape;164;p5"/>
          <p:cNvSpPr txBox="1"/>
          <p:nvPr/>
        </p:nvSpPr>
        <p:spPr>
          <a:xfrm>
            <a:off x="10772285" y="2552377"/>
            <a:ext cx="3406145" cy="923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Vida 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empresarial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Acidentes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pessoais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coletivo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Acidentes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pessoais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passageiro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28" name="Google Shape;164;p5"/>
          <p:cNvSpPr txBox="1"/>
          <p:nvPr/>
        </p:nvSpPr>
        <p:spPr>
          <a:xfrm>
            <a:off x="10772285" y="4745899"/>
            <a:ext cx="4679234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PATRIMONIAL</a:t>
            </a:r>
          </a:p>
        </p:txBody>
      </p:sp>
      <p:sp>
        <p:nvSpPr>
          <p:cNvPr id="329" name="Google Shape;164;p5"/>
          <p:cNvSpPr txBox="1"/>
          <p:nvPr/>
        </p:nvSpPr>
        <p:spPr>
          <a:xfrm>
            <a:off x="10772285" y="5031789"/>
            <a:ext cx="6219411" cy="1415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 anchor="ctr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Compreensivo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empresarial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 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Seguro </a:t>
            </a: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h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omeoffice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 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Imobiliário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 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Condomínio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Seguro </a:t>
            </a: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egistro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p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rotegido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sz="1600" i="1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(Title)</a:t>
            </a:r>
          </a:p>
        </p:txBody>
      </p:sp>
      <p:sp>
        <p:nvSpPr>
          <p:cNvPr id="332" name="Google Shape;164;p5"/>
          <p:cNvSpPr txBox="1"/>
          <p:nvPr/>
        </p:nvSpPr>
        <p:spPr>
          <a:xfrm>
            <a:off x="14547544" y="2232364"/>
            <a:ext cx="5282541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LINHAS FINANCEIRAS</a:t>
            </a:r>
            <a:endParaRPr sz="1600" dirty="0">
              <a:solidFill>
                <a:schemeClr val="tx1"/>
              </a:solidFill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333" name="Google Shape;164;p5"/>
          <p:cNvSpPr txBox="1"/>
          <p:nvPr/>
        </p:nvSpPr>
        <p:spPr>
          <a:xfrm>
            <a:off x="14547545" y="2552377"/>
            <a:ext cx="4124504" cy="923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Responsabilidade civil executivos (D&amp;O)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Responsabilidade civil profissionais (E&amp;O)</a:t>
            </a:r>
            <a:b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</a:b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Seguro cyber</a:t>
            </a:r>
          </a:p>
        </p:txBody>
      </p:sp>
      <p:sp>
        <p:nvSpPr>
          <p:cNvPr id="334" name="Google Shape;164;p5"/>
          <p:cNvSpPr txBox="1"/>
          <p:nvPr/>
        </p:nvSpPr>
        <p:spPr>
          <a:xfrm>
            <a:off x="10772285" y="3644403"/>
            <a:ext cx="3014566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SURETY</a:t>
            </a:r>
          </a:p>
        </p:txBody>
      </p:sp>
      <p:sp>
        <p:nvSpPr>
          <p:cNvPr id="335" name="Google Shape;164;p5"/>
          <p:cNvSpPr txBox="1"/>
          <p:nvPr/>
        </p:nvSpPr>
        <p:spPr>
          <a:xfrm>
            <a:off x="10772285" y="3920055"/>
            <a:ext cx="5282543" cy="677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98" tIns="91398" rIns="91398" bIns="91398" anchor="ctr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Seguro </a:t>
            </a: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g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arantia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Seguro </a:t>
            </a: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a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luguel</a:t>
            </a:r>
            <a:r>
              <a:rPr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c</a:t>
            </a:r>
            <a:r>
              <a:rPr sz="1600" dirty="0" err="1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omercial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36" name="Google Shape;164;p5"/>
          <p:cNvSpPr txBox="1"/>
          <p:nvPr/>
        </p:nvSpPr>
        <p:spPr>
          <a:xfrm>
            <a:off x="19041163" y="2222209"/>
            <a:ext cx="3514037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MOBILIDADE</a:t>
            </a:r>
            <a:r>
              <a:rPr lang="pt-BR"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 / AUTODAY BY KEV</a:t>
            </a:r>
            <a:endParaRPr sz="1600" dirty="0">
              <a:solidFill>
                <a:schemeClr val="tx1"/>
              </a:solidFill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337" name="Google Shape;164;p5"/>
          <p:cNvSpPr txBox="1"/>
          <p:nvPr/>
        </p:nvSpPr>
        <p:spPr>
          <a:xfrm>
            <a:off x="19041163" y="2552377"/>
            <a:ext cx="2289273" cy="677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Proteção auto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Proteção moto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2" name="Google Shape;164;p5">
            <a:extLst>
              <a:ext uri="{FF2B5EF4-FFF2-40B4-BE49-F238E27FC236}">
                <a16:creationId xmlns:a16="http://schemas.microsoft.com/office/drawing/2014/main" id="{E1842052-5A72-B6C7-3859-7BCE18EB71EE}"/>
              </a:ext>
            </a:extLst>
          </p:cNvPr>
          <p:cNvSpPr txBox="1"/>
          <p:nvPr/>
        </p:nvSpPr>
        <p:spPr>
          <a:xfrm>
            <a:off x="14547546" y="3644403"/>
            <a:ext cx="2585752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TRANSPORTE</a:t>
            </a:r>
            <a:endParaRPr sz="1600" dirty="0">
              <a:solidFill>
                <a:schemeClr val="tx1"/>
              </a:solidFill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4" name="Google Shape;164;p5">
            <a:extLst>
              <a:ext uri="{FF2B5EF4-FFF2-40B4-BE49-F238E27FC236}">
                <a16:creationId xmlns:a16="http://schemas.microsoft.com/office/drawing/2014/main" id="{4FCD35AA-18A1-B451-DCBA-EFC8B6885D8E}"/>
              </a:ext>
            </a:extLst>
          </p:cNvPr>
          <p:cNvSpPr txBox="1"/>
          <p:nvPr/>
        </p:nvSpPr>
        <p:spPr>
          <a:xfrm>
            <a:off x="14547545" y="3920055"/>
            <a:ext cx="4949499" cy="190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Transportador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RCTR / RC-DC / RCTA-C / RCA-C / RCTF-C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RCV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Transporte internacional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Imp. / Expo.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Transporte nacional</a:t>
            </a:r>
          </a:p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Operador portuário</a:t>
            </a:r>
          </a:p>
        </p:txBody>
      </p:sp>
      <p:sp>
        <p:nvSpPr>
          <p:cNvPr id="10" name="Google Shape;164;p5">
            <a:extLst>
              <a:ext uri="{FF2B5EF4-FFF2-40B4-BE49-F238E27FC236}">
                <a16:creationId xmlns:a16="http://schemas.microsoft.com/office/drawing/2014/main" id="{D6BD7C18-BC5C-EE5F-18AE-052C100EE8E1}"/>
              </a:ext>
            </a:extLst>
          </p:cNvPr>
          <p:cNvSpPr txBox="1"/>
          <p:nvPr/>
        </p:nvSpPr>
        <p:spPr>
          <a:xfrm>
            <a:off x="19041164" y="3644403"/>
            <a:ext cx="1496260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ÔNIBUS</a:t>
            </a:r>
            <a:endParaRPr sz="1600" dirty="0">
              <a:solidFill>
                <a:schemeClr val="tx1"/>
              </a:solidFill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11" name="Google Shape;164;p5">
            <a:extLst>
              <a:ext uri="{FF2B5EF4-FFF2-40B4-BE49-F238E27FC236}">
                <a16:creationId xmlns:a16="http://schemas.microsoft.com/office/drawing/2014/main" id="{50E77B77-3A8E-2C55-F7CF-4B92767DF1AA}"/>
              </a:ext>
            </a:extLst>
          </p:cNvPr>
          <p:cNvSpPr txBox="1"/>
          <p:nvPr/>
        </p:nvSpPr>
        <p:spPr>
          <a:xfrm>
            <a:off x="19041164" y="3920055"/>
            <a:ext cx="2631570" cy="43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 anchor="ctr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RCO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5" name="Google Shape;164;p5">
            <a:extLst>
              <a:ext uri="{FF2B5EF4-FFF2-40B4-BE49-F238E27FC236}">
                <a16:creationId xmlns:a16="http://schemas.microsoft.com/office/drawing/2014/main" id="{7CF84A28-6916-521F-A3CD-26DB70514117}"/>
              </a:ext>
            </a:extLst>
          </p:cNvPr>
          <p:cNvSpPr txBox="1"/>
          <p:nvPr/>
        </p:nvSpPr>
        <p:spPr>
          <a:xfrm>
            <a:off x="19041164" y="4745899"/>
            <a:ext cx="2289272" cy="40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 anchor="ctr">
            <a:spAutoFit/>
          </a:bodyPr>
          <a:lstStyle>
            <a:lvl1pPr defTabSz="1828800">
              <a:lnSpc>
                <a:spcPct val="90000"/>
              </a:lnSpc>
              <a:spcBef>
                <a:spcPts val="0"/>
              </a:spcBef>
              <a:defRPr sz="2800">
                <a:solidFill>
                  <a:srgbClr val="09FB30"/>
                </a:solidFill>
                <a:latin typeface="NewJuneBold"/>
                <a:ea typeface="NewJuneBold"/>
                <a:cs typeface="NewJuneBold"/>
                <a:sym typeface="NewJuneBold"/>
              </a:defRPr>
            </a:lvl1pPr>
          </a:lstStyle>
          <a:p>
            <a:r>
              <a:rPr lang="pt-BR" sz="1600" dirty="0">
                <a:solidFill>
                  <a:schemeClr val="tx1"/>
                </a:solidFill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VIAGEM</a:t>
            </a:r>
            <a:endParaRPr sz="1600" dirty="0">
              <a:solidFill>
                <a:schemeClr val="tx1"/>
              </a:solidFill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13" name="Google Shape;164;p5">
            <a:extLst>
              <a:ext uri="{FF2B5EF4-FFF2-40B4-BE49-F238E27FC236}">
                <a16:creationId xmlns:a16="http://schemas.microsoft.com/office/drawing/2014/main" id="{9840FCC4-4C77-94A2-7F30-E5A57F148688}"/>
              </a:ext>
            </a:extLst>
          </p:cNvPr>
          <p:cNvSpPr txBox="1"/>
          <p:nvPr/>
        </p:nvSpPr>
        <p:spPr>
          <a:xfrm>
            <a:off x="19041163" y="5031789"/>
            <a:ext cx="2631570" cy="43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 anchor="ctr">
            <a:spAutoFit/>
          </a:bodyPr>
          <a:lstStyle/>
          <a:p>
            <a:pPr defTabSz="1828800">
              <a:spcBef>
                <a:spcPts val="0"/>
              </a:spcBef>
              <a:defRPr sz="2800">
                <a:solidFill>
                  <a:srgbClr val="FFFFFF"/>
                </a:solidFill>
                <a:latin typeface="NewJuneRegular"/>
                <a:ea typeface="NewJuneRegular"/>
                <a:cs typeface="NewJuneRegular"/>
                <a:sym typeface="NewJuneRegular"/>
              </a:defRPr>
            </a:pPr>
            <a:r>
              <a:rPr lang="pt-BR" sz="1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Seguro viagem</a:t>
            </a:r>
            <a:endParaRPr sz="1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325A6C-3997-F031-AFA6-FB437FA68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406" y="6683563"/>
            <a:ext cx="13701195" cy="531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304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F7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454AB-4EEF-ABBB-6F40-F2AC59ED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CASSURANCE">
            <a:extLst>
              <a:ext uri="{FF2B5EF4-FFF2-40B4-BE49-F238E27FC236}">
                <a16:creationId xmlns:a16="http://schemas.microsoft.com/office/drawing/2014/main" id="{8DDC3A61-8B15-E4E5-BDF6-7BEF7EF8CB23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5" name="BANCASSURANCE">
            <a:extLst>
              <a:ext uri="{FF2B5EF4-FFF2-40B4-BE49-F238E27FC236}">
                <a16:creationId xmlns:a16="http://schemas.microsoft.com/office/drawing/2014/main" id="{DDDEF39E-E105-97BD-D464-A475EEE97223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1D581F-C395-D16C-F195-DE052ED894D4}"/>
              </a:ext>
            </a:extLst>
          </p:cNvPr>
          <p:cNvSpPr txBox="1"/>
          <p:nvPr/>
        </p:nvSpPr>
        <p:spPr>
          <a:xfrm>
            <a:off x="803395" y="5277360"/>
            <a:ext cx="15838685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14400"/>
              </a:lnSpc>
              <a:spcBef>
                <a:spcPts val="0"/>
              </a:spcBef>
            </a:pP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Produtos de</a:t>
            </a:r>
          </a:p>
          <a:p>
            <a:pPr>
              <a:lnSpc>
                <a:spcPts val="14400"/>
              </a:lnSpc>
              <a:spcBef>
                <a:spcPts val="0"/>
              </a:spcBef>
            </a:pP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Previdência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FF5E54A9-7247-BEB6-E290-59FEFA31F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0" y="2781338"/>
            <a:ext cx="10741488" cy="8153324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2003AFF8-622A-03FA-1085-0E308DA68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95" y="917922"/>
            <a:ext cx="4687501" cy="6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378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4;p2">
            <a:extLst>
              <a:ext uri="{FF2B5EF4-FFF2-40B4-BE49-F238E27FC236}">
                <a16:creationId xmlns:a16="http://schemas.microsoft.com/office/drawing/2014/main" id="{829A6458-6CC7-D73B-5241-7A8970908D37}"/>
              </a:ext>
            </a:extLst>
          </p:cNvPr>
          <p:cNvSpPr txBox="1"/>
          <p:nvPr/>
        </p:nvSpPr>
        <p:spPr>
          <a:xfrm>
            <a:off x="803394" y="4729011"/>
            <a:ext cx="6723631" cy="2696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defTabSz="1828800">
              <a:lnSpc>
                <a:spcPct val="80000"/>
              </a:lnSpc>
              <a:spcBef>
                <a:spcPts val="0"/>
              </a:spcBef>
              <a:defRPr sz="6800">
                <a:latin typeface="NewJuneMedium"/>
                <a:ea typeface="NewJuneMedium"/>
                <a:cs typeface="NewJuneMedium"/>
                <a:sym typeface="NewJuneMedium"/>
              </a:defRPr>
            </a:pPr>
            <a:r>
              <a:rPr lang="pt-BR" sz="6800" dirty="0">
                <a:latin typeface="PP Mori Semibold" pitchFamily="50" charset="0"/>
                <a:ea typeface="PP Mori Semibold" pitchFamily="50" charset="0"/>
                <a:cs typeface="PP Mori Semibold" pitchFamily="50" charset="0"/>
                <a:sym typeface="NewJuneMedium"/>
              </a:rPr>
              <a:t>O futuro que você constrói começa hoje</a:t>
            </a:r>
            <a:endParaRPr lang="pt-BR" dirty="0"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9" name="Google Shape;164;p5">
            <a:extLst>
              <a:ext uri="{FF2B5EF4-FFF2-40B4-BE49-F238E27FC236}">
                <a16:creationId xmlns:a16="http://schemas.microsoft.com/office/drawing/2014/main" id="{6BD82302-A813-CCD8-EC46-42C74065FC26}"/>
              </a:ext>
            </a:extLst>
          </p:cNvPr>
          <p:cNvSpPr txBox="1"/>
          <p:nvPr/>
        </p:nvSpPr>
        <p:spPr>
          <a:xfrm>
            <a:off x="803397" y="7578598"/>
            <a:ext cx="5787903" cy="1692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398" tIns="91398" rIns="91398" bIns="91398" anchor="ctr">
            <a:spAutoFit/>
          </a:bodyPr>
          <a:lstStyle>
            <a:lvl1pPr defTabSz="1828800">
              <a:lnSpc>
                <a:spcPct val="120000"/>
              </a:lnSpc>
              <a:spcBef>
                <a:spcPts val="0"/>
              </a:spcBef>
              <a:defRPr sz="3400">
                <a:latin typeface="NewJuneRegular"/>
                <a:ea typeface="NewJuneRegular"/>
                <a:cs typeface="NewJuneRegular"/>
                <a:sym typeface="NewJuneRegular"/>
              </a:defRPr>
            </a:lvl1pPr>
          </a:lstStyle>
          <a:p>
            <a:r>
              <a:rPr lang="pt-BR" sz="2800" dirty="0">
                <a:latin typeface="PP Mori" pitchFamily="50" charset="0"/>
                <a:ea typeface="PP Mori" pitchFamily="50" charset="0"/>
                <a:cs typeface="PP Mori" pitchFamily="50" charset="0"/>
              </a:rPr>
              <a:t>Planejamento financeiro de longo prazo, com a transparência e a solidez que você merece.</a:t>
            </a:r>
            <a:endParaRPr sz="2600"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17" name="Retângulo Arredondado">
            <a:extLst>
              <a:ext uri="{FF2B5EF4-FFF2-40B4-BE49-F238E27FC236}">
                <a16:creationId xmlns:a16="http://schemas.microsoft.com/office/drawing/2014/main" id="{B62E6B1E-B137-E679-A8D3-24C97D80E908}"/>
              </a:ext>
            </a:extLst>
          </p:cNvPr>
          <p:cNvSpPr/>
          <p:nvPr/>
        </p:nvSpPr>
        <p:spPr>
          <a:xfrm>
            <a:off x="7515753" y="2100496"/>
            <a:ext cx="7760227" cy="9515008"/>
          </a:xfrm>
          <a:prstGeom prst="roundRect">
            <a:avLst>
              <a:gd name="adj" fmla="val 4820"/>
            </a:avLst>
          </a:prstGeom>
          <a:solidFill>
            <a:srgbClr val="CFF74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9" name="Retângulo Arredondado">
            <a:extLst>
              <a:ext uri="{FF2B5EF4-FFF2-40B4-BE49-F238E27FC236}">
                <a16:creationId xmlns:a16="http://schemas.microsoft.com/office/drawing/2014/main" id="{96DEC3BA-E097-2BCA-CD9D-B3E53697352D}"/>
              </a:ext>
            </a:extLst>
          </p:cNvPr>
          <p:cNvSpPr/>
          <p:nvPr/>
        </p:nvSpPr>
        <p:spPr>
          <a:xfrm>
            <a:off x="15658763" y="2100496"/>
            <a:ext cx="7760227" cy="9515008"/>
          </a:xfrm>
          <a:prstGeom prst="roundRect">
            <a:avLst>
              <a:gd name="adj" fmla="val 4820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86426AB-4DBE-9D54-C2E9-C6EC91DC9AE3}"/>
              </a:ext>
            </a:extLst>
          </p:cNvPr>
          <p:cNvSpPr txBox="1"/>
          <p:nvPr/>
        </p:nvSpPr>
        <p:spPr>
          <a:xfrm>
            <a:off x="8304215" y="3354858"/>
            <a:ext cx="6183302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pt-BR" sz="3400" dirty="0">
                <a:solidFill>
                  <a:schemeClr val="tx1"/>
                </a:solidFill>
                <a:effectLst/>
                <a:latin typeface="PP Mori Semibold" pitchFamily="50" charset="0"/>
              </a:rPr>
              <a:t>Assistência Financeira</a:t>
            </a:r>
            <a:endParaRPr lang="pt-BR" sz="3400" dirty="0">
              <a:solidFill>
                <a:schemeClr val="tx1"/>
              </a:solidFill>
              <a:latin typeface="PP Mori Semibold" pitchFamily="50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EE78675-ADCF-F17F-CFD5-EC47C85F62D5}"/>
              </a:ext>
            </a:extLst>
          </p:cNvPr>
          <p:cNvSpPr txBox="1"/>
          <p:nvPr/>
        </p:nvSpPr>
        <p:spPr>
          <a:xfrm>
            <a:off x="8389671" y="4195534"/>
            <a:ext cx="6012391" cy="1708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pt-BR" sz="2100" dirty="0">
                <a:solidFill>
                  <a:schemeClr val="tx1"/>
                </a:solidFill>
                <a:effectLst/>
                <a:latin typeface="PP Mori" pitchFamily="50" charset="0"/>
              </a:rPr>
              <a:t>Realize seu sonhos com as melhores condições do mercado. A Assistência Financeira não é empréstimo comum. É uma alternativa estruturada, regulada e com taxas que fazem sentido para seu cliente.</a:t>
            </a:r>
            <a:endParaRPr lang="pt-BR" sz="2100" dirty="0">
              <a:solidFill>
                <a:schemeClr val="tx1"/>
              </a:solidFill>
              <a:latin typeface="PP Mori" pitchFamily="50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24A0172-F8F4-86E1-1723-979972F661C9}"/>
              </a:ext>
            </a:extLst>
          </p:cNvPr>
          <p:cNvSpPr txBox="1"/>
          <p:nvPr/>
        </p:nvSpPr>
        <p:spPr>
          <a:xfrm>
            <a:off x="16935395" y="3354858"/>
            <a:ext cx="5206963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pt-BR" sz="3400" dirty="0">
                <a:solidFill>
                  <a:schemeClr val="tx1"/>
                </a:solidFill>
                <a:effectLst/>
                <a:latin typeface="PP Mori Semibold" pitchFamily="50" charset="0"/>
              </a:rPr>
              <a:t>Previdência</a:t>
            </a:r>
            <a:endParaRPr lang="pt-BR" sz="3400" dirty="0">
              <a:solidFill>
                <a:schemeClr val="tx1"/>
              </a:solidFill>
              <a:latin typeface="PP Mori Semibold" pitchFamily="50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E0A23C4-F162-DF7D-E942-B57C00105576}"/>
              </a:ext>
            </a:extLst>
          </p:cNvPr>
          <p:cNvSpPr txBox="1"/>
          <p:nvPr/>
        </p:nvSpPr>
        <p:spPr>
          <a:xfrm>
            <a:off x="16688262" y="4195534"/>
            <a:ext cx="570122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pt-BR" sz="2100" dirty="0">
                <a:solidFill>
                  <a:schemeClr val="tx1"/>
                </a:solidFill>
                <a:effectLst/>
                <a:latin typeface="PP Mori" pitchFamily="50" charset="0"/>
              </a:rPr>
              <a:t>A previdência privada é um plano de acumulação de longo prazo com vantagens tributárias, proteção patrimonial e flexibilidade para o seu perfil de vida.</a:t>
            </a:r>
            <a:endParaRPr lang="pt-BR" sz="2100" dirty="0">
              <a:solidFill>
                <a:schemeClr val="tx1"/>
              </a:solidFill>
              <a:latin typeface="PP Mori" pitchFamily="50" charset="0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B0A22A0D-FF99-BC5A-A8CC-227C37BAAF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80084" y="746372"/>
            <a:ext cx="3786460" cy="502842"/>
          </a:xfrm>
          <a:prstGeom prst="rect">
            <a:avLst/>
          </a:prstGeom>
        </p:spPr>
      </p:pic>
      <p:sp>
        <p:nvSpPr>
          <p:cNvPr id="5" name="BANCASSURANCE">
            <a:extLst>
              <a:ext uri="{FF2B5EF4-FFF2-40B4-BE49-F238E27FC236}">
                <a16:creationId xmlns:a16="http://schemas.microsoft.com/office/drawing/2014/main" id="{3FBA63C2-A769-8D63-86C9-E10C165C9F44}"/>
              </a:ext>
            </a:extLst>
          </p:cNvPr>
          <p:cNvSpPr txBox="1"/>
          <p:nvPr/>
        </p:nvSpPr>
        <p:spPr>
          <a:xfrm>
            <a:off x="803395" y="788461"/>
            <a:ext cx="4111505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2438336">
              <a:lnSpc>
                <a:spcPct val="80000"/>
              </a:lnSpc>
              <a:spcBef>
                <a:spcPts val="0"/>
              </a:spcBef>
              <a:defRPr sz="2000" cap="all" spc="620"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NOSSAS SOLUÇÕES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02EB5142-51F3-94B1-BD7B-8B77464C96F0}"/>
              </a:ext>
            </a:extLst>
          </p:cNvPr>
          <p:cNvSpPr/>
          <p:nvPr/>
        </p:nvSpPr>
        <p:spPr>
          <a:xfrm>
            <a:off x="4743450" y="961217"/>
            <a:ext cx="15236644" cy="0"/>
          </a:xfrm>
          <a:prstGeom prst="line">
            <a:avLst/>
          </a:prstGeom>
          <a:ln w="38100">
            <a:solidFill>
              <a:srgbClr val="CFF74A"/>
            </a:solidFill>
            <a:miter/>
          </a:ln>
        </p:spPr>
        <p:txBody>
          <a:bodyPr lIns="91437" tIns="91437" rIns="91437" bIns="91437"/>
          <a:lstStyle/>
          <a:p>
            <a:pPr defTabSz="1828800">
              <a:spcBef>
                <a:spcPts val="0"/>
              </a:spcBef>
              <a:defRPr sz="2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A6FCC740-8B93-97FE-5807-8FE3E8D767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81117" y="6600624"/>
            <a:ext cx="5115518" cy="3877195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5DE5D2BF-6331-B975-0007-502434734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3601" y="6395516"/>
            <a:ext cx="4844530" cy="4287409"/>
          </a:xfrm>
          <a:prstGeom prst="rect">
            <a:avLst/>
          </a:prstGeom>
        </p:spPr>
      </p:pic>
      <p:sp>
        <p:nvSpPr>
          <p:cNvPr id="27" name="BANCASSURANCE">
            <a:extLst>
              <a:ext uri="{FF2B5EF4-FFF2-40B4-BE49-F238E27FC236}">
                <a16:creationId xmlns:a16="http://schemas.microsoft.com/office/drawing/2014/main" id="{62077FF9-5E85-DFC2-139D-BD57624F263B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30" name="BANCASSURANCE">
            <a:extLst>
              <a:ext uri="{FF2B5EF4-FFF2-40B4-BE49-F238E27FC236}">
                <a16:creationId xmlns:a16="http://schemas.microsoft.com/office/drawing/2014/main" id="{F52E274E-CDB0-E71C-4F79-5CF40460BDCC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9607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F7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AF534-DDC2-A2DE-7212-ECB51422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CASSURANCE">
            <a:extLst>
              <a:ext uri="{FF2B5EF4-FFF2-40B4-BE49-F238E27FC236}">
                <a16:creationId xmlns:a16="http://schemas.microsoft.com/office/drawing/2014/main" id="{C157AF7C-62EC-3650-A584-7C18ECA06119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5" name="BANCASSURANCE">
            <a:extLst>
              <a:ext uri="{FF2B5EF4-FFF2-40B4-BE49-F238E27FC236}">
                <a16:creationId xmlns:a16="http://schemas.microsoft.com/office/drawing/2014/main" id="{C13714AA-BB0D-5408-8C8E-46BA065756A6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722193-5325-70B2-6C32-C99990535A6F}"/>
              </a:ext>
            </a:extLst>
          </p:cNvPr>
          <p:cNvSpPr txBox="1"/>
          <p:nvPr/>
        </p:nvSpPr>
        <p:spPr>
          <a:xfrm>
            <a:off x="803395" y="4354031"/>
            <a:ext cx="12588755" cy="5642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ts val="14400"/>
              </a:lnSpc>
              <a:spcBef>
                <a:spcPts val="0"/>
              </a:spcBef>
            </a:pPr>
            <a:r>
              <a:rPr lang="pt-BR" sz="14400" dirty="0">
                <a:latin typeface="PP Mori Semibold" pitchFamily="50" charset="0"/>
                <a:ea typeface="PP Mori Semibold" pitchFamily="50" charset="0"/>
                <a:cs typeface="PP Mori Semibold" pitchFamily="50" charset="0"/>
              </a:rPr>
              <a:t>Nossos Títulos de Capitalização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E9DCF51-8D0C-7A19-1448-4848C6F1B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53241" y="1653083"/>
            <a:ext cx="10206004" cy="1040983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885872C-403C-AD62-85AE-FAA18FDD7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95" y="922616"/>
            <a:ext cx="4957325" cy="61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2761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F27D-31E7-760D-3F83-D1FE33FA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CASSURANCE">
            <a:extLst>
              <a:ext uri="{FF2B5EF4-FFF2-40B4-BE49-F238E27FC236}">
                <a16:creationId xmlns:a16="http://schemas.microsoft.com/office/drawing/2014/main" id="{4768122D-32A5-2B8F-AB9C-0083E05234F1}"/>
              </a:ext>
            </a:extLst>
          </p:cNvPr>
          <p:cNvSpPr txBox="1"/>
          <p:nvPr/>
        </p:nvSpPr>
        <p:spPr>
          <a:xfrm>
            <a:off x="803395" y="788461"/>
            <a:ext cx="4111505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2438336">
              <a:lnSpc>
                <a:spcPct val="80000"/>
              </a:lnSpc>
              <a:spcBef>
                <a:spcPts val="0"/>
              </a:spcBef>
              <a:defRPr sz="2000" cap="all" spc="620"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Nossos títulos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64E22994-F7F8-A43B-460F-D54268FB7954}"/>
              </a:ext>
            </a:extLst>
          </p:cNvPr>
          <p:cNvSpPr/>
          <p:nvPr/>
        </p:nvSpPr>
        <p:spPr>
          <a:xfrm>
            <a:off x="4267200" y="961217"/>
            <a:ext cx="15262860" cy="0"/>
          </a:xfrm>
          <a:prstGeom prst="line">
            <a:avLst/>
          </a:prstGeom>
          <a:ln w="38100">
            <a:solidFill>
              <a:srgbClr val="CFF74A"/>
            </a:solidFill>
            <a:miter/>
          </a:ln>
        </p:spPr>
        <p:txBody>
          <a:bodyPr lIns="91437" tIns="91437" rIns="91437" bIns="91437"/>
          <a:lstStyle/>
          <a:p>
            <a:pPr defTabSz="1828800">
              <a:spcBef>
                <a:spcPts val="0"/>
              </a:spcBef>
              <a:defRPr sz="2800">
                <a:latin typeface="Helvetica"/>
                <a:ea typeface="Helvetica"/>
                <a:cs typeface="Helvetica"/>
                <a:sym typeface="Helvetica"/>
              </a:defRPr>
            </a:pPr>
            <a:r>
              <a:rPr lang="pt-BR" dirty="0">
                <a:latin typeface="PP Mori" pitchFamily="50" charset="0"/>
                <a:ea typeface="PP Mori" pitchFamily="50" charset="0"/>
                <a:cs typeface="PP Mori" pitchFamily="50" charset="0"/>
              </a:rPr>
              <a:t> </a:t>
            </a:r>
            <a:endParaRPr dirty="0"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2" name="Google Shape;124;p2">
            <a:extLst>
              <a:ext uri="{FF2B5EF4-FFF2-40B4-BE49-F238E27FC236}">
                <a16:creationId xmlns:a16="http://schemas.microsoft.com/office/drawing/2014/main" id="{50450E76-39D9-16F4-5720-64848785907D}"/>
              </a:ext>
            </a:extLst>
          </p:cNvPr>
          <p:cNvSpPr txBox="1"/>
          <p:nvPr/>
        </p:nvSpPr>
        <p:spPr>
          <a:xfrm>
            <a:off x="803394" y="2168691"/>
            <a:ext cx="7846830" cy="1858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398" tIns="91398" rIns="91398" bIns="91398">
            <a:spAutoFit/>
          </a:bodyPr>
          <a:lstStyle/>
          <a:p>
            <a:pPr defTabSz="1828800">
              <a:lnSpc>
                <a:spcPct val="80000"/>
              </a:lnSpc>
              <a:spcBef>
                <a:spcPts val="0"/>
              </a:spcBef>
              <a:defRPr sz="6800">
                <a:latin typeface="NewJuneMedium"/>
                <a:ea typeface="NewJuneMedium"/>
                <a:cs typeface="NewJuneMedium"/>
                <a:sym typeface="NewJuneMedium"/>
              </a:defRPr>
            </a:pPr>
            <a:r>
              <a:rPr lang="pt-BR" sz="6800" dirty="0">
                <a:latin typeface="PP Mori Semibold" pitchFamily="50" charset="0"/>
                <a:ea typeface="PP Mori Semibold" pitchFamily="50" charset="0"/>
                <a:cs typeface="PP Mori Semibold" pitchFamily="50" charset="0"/>
                <a:sym typeface="NewJuneMedium"/>
              </a:rPr>
              <a:t>Nossos produtos de capitalização</a:t>
            </a:r>
            <a:endParaRPr lang="pt-BR" dirty="0">
              <a:latin typeface="PP Mori Semibold" pitchFamily="50" charset="0"/>
              <a:ea typeface="PP Mori Semibold" pitchFamily="50" charset="0"/>
              <a:cs typeface="PP Mori Semibold" pitchFamily="50" charset="0"/>
            </a:endParaRPr>
          </a:p>
        </p:txBody>
      </p:sp>
      <p:sp>
        <p:nvSpPr>
          <p:cNvPr id="4" name="Retângulo Arredondado">
            <a:extLst>
              <a:ext uri="{FF2B5EF4-FFF2-40B4-BE49-F238E27FC236}">
                <a16:creationId xmlns:a16="http://schemas.microsoft.com/office/drawing/2014/main" id="{A9E5D3F8-DB95-4E89-736F-24BB819C1A68}"/>
              </a:ext>
            </a:extLst>
          </p:cNvPr>
          <p:cNvSpPr/>
          <p:nvPr/>
        </p:nvSpPr>
        <p:spPr>
          <a:xfrm>
            <a:off x="803394" y="4485909"/>
            <a:ext cx="5368150" cy="6413739"/>
          </a:xfrm>
          <a:prstGeom prst="roundRect">
            <a:avLst>
              <a:gd name="adj" fmla="val 4820"/>
            </a:avLst>
          </a:prstGeom>
          <a:solidFill>
            <a:schemeClr val="bg1">
              <a:lumMod val="95000"/>
            </a:schemeClr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ED5F510-D544-3783-E3D1-CFEFF832D791}"/>
              </a:ext>
            </a:extLst>
          </p:cNvPr>
          <p:cNvGrpSpPr/>
          <p:nvPr/>
        </p:nvGrpSpPr>
        <p:grpSpPr>
          <a:xfrm>
            <a:off x="1284312" y="5215116"/>
            <a:ext cx="4406314" cy="4450628"/>
            <a:chOff x="1349593" y="5293219"/>
            <a:chExt cx="4406314" cy="4450628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D07312F-BE63-C659-CEA8-D99DCEB5047B}"/>
                </a:ext>
              </a:extLst>
            </p:cNvPr>
            <p:cNvSpPr txBox="1"/>
            <p:nvPr/>
          </p:nvSpPr>
          <p:spPr>
            <a:xfrm>
              <a:off x="1349593" y="5293219"/>
              <a:ext cx="3905066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pt-BR" sz="3400" dirty="0">
                  <a:solidFill>
                    <a:schemeClr val="tx1"/>
                  </a:solidFill>
                  <a:effectLst/>
                  <a:latin typeface="PP Mori Semibold" pitchFamily="50" charset="0"/>
                </a:rPr>
                <a:t>Cap Filantropia</a:t>
              </a:r>
              <a:endParaRPr lang="pt-BR" sz="3400" dirty="0">
                <a:solidFill>
                  <a:schemeClr val="tx1"/>
                </a:solidFill>
                <a:latin typeface="PP Mori Semibold" pitchFamily="50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F5A5AEA-BF9A-713E-DDE1-B2D2A91F43F6}"/>
                </a:ext>
              </a:extLst>
            </p:cNvPr>
            <p:cNvSpPr txBox="1"/>
            <p:nvPr/>
          </p:nvSpPr>
          <p:spPr>
            <a:xfrm>
              <a:off x="1349593" y="6142861"/>
              <a:ext cx="4406314" cy="3600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spcBef>
                  <a:spcPts val="100"/>
                </a:spcBef>
              </a:pPr>
              <a:r>
                <a:rPr lang="pt-BR" sz="2100" dirty="0">
                  <a:solidFill>
                    <a:schemeClr val="tx1"/>
                  </a:solidFill>
                  <a:effectLst/>
                  <a:latin typeface="PP Mori" pitchFamily="50" charset="0"/>
                </a:rPr>
                <a:t>Realize seus sonhos ajudando quem mais precisa</a:t>
              </a:r>
            </a:p>
            <a:p>
              <a:pPr marL="342900" indent="-34290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endParaRPr lang="pt-BR" sz="2100" dirty="0">
                <a:solidFill>
                  <a:schemeClr val="tx1"/>
                </a:solidFill>
                <a:latin typeface="PP Mori" pitchFamily="50" charset="0"/>
              </a:endParaRP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Oportunidade de ajudar instituições de forma simplificada;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Sorteios incentivam a realização das doações de pessoas físicas, muito raras no Brasil;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Produtos massificados, de ampla distribuição;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Atuação em diversas regiões do País;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Oportunidade de ajudar instituições de forma simplificada;</a:t>
              </a:r>
              <a:endParaRPr lang="pt-BR" sz="1600" dirty="0">
                <a:solidFill>
                  <a:schemeClr val="tx1"/>
                </a:solidFill>
                <a:latin typeface="PP Mori" pitchFamily="50" charset="0"/>
              </a:endParaRPr>
            </a:p>
          </p:txBody>
        </p:sp>
      </p:grpSp>
      <p:sp>
        <p:nvSpPr>
          <p:cNvPr id="14" name="Retângulo Arredondado">
            <a:extLst>
              <a:ext uri="{FF2B5EF4-FFF2-40B4-BE49-F238E27FC236}">
                <a16:creationId xmlns:a16="http://schemas.microsoft.com/office/drawing/2014/main" id="{E88643B9-59D5-39E4-11C6-B553DF03F3B7}"/>
              </a:ext>
            </a:extLst>
          </p:cNvPr>
          <p:cNvSpPr/>
          <p:nvPr/>
        </p:nvSpPr>
        <p:spPr>
          <a:xfrm>
            <a:off x="6543794" y="4485909"/>
            <a:ext cx="5368150" cy="6413739"/>
          </a:xfrm>
          <a:prstGeom prst="roundRect">
            <a:avLst>
              <a:gd name="adj" fmla="val 4820"/>
            </a:avLst>
          </a:prstGeom>
          <a:solidFill>
            <a:schemeClr val="bg1">
              <a:lumMod val="95000"/>
            </a:schemeClr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FD19FFF-0752-EF89-BA5F-0961DC537189}"/>
              </a:ext>
            </a:extLst>
          </p:cNvPr>
          <p:cNvGrpSpPr/>
          <p:nvPr/>
        </p:nvGrpSpPr>
        <p:grpSpPr>
          <a:xfrm>
            <a:off x="7024712" y="5215116"/>
            <a:ext cx="4406314" cy="3958185"/>
            <a:chOff x="1349593" y="5293219"/>
            <a:chExt cx="4406314" cy="3958185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29C1122-2CDD-5A38-EE15-9A9BC64A7E4E}"/>
                </a:ext>
              </a:extLst>
            </p:cNvPr>
            <p:cNvSpPr txBox="1"/>
            <p:nvPr/>
          </p:nvSpPr>
          <p:spPr>
            <a:xfrm>
              <a:off x="1349593" y="5293219"/>
              <a:ext cx="3905066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pt-BR" sz="3400" dirty="0">
                  <a:solidFill>
                    <a:schemeClr val="tx1"/>
                  </a:solidFill>
                  <a:effectLst/>
                  <a:latin typeface="PP Mori Semibold" pitchFamily="50" charset="0"/>
                </a:rPr>
                <a:t>Cap Incentivo</a:t>
              </a:r>
              <a:endParaRPr lang="pt-BR" sz="3400" dirty="0">
                <a:solidFill>
                  <a:schemeClr val="tx1"/>
                </a:solidFill>
                <a:latin typeface="PP Mori Semibold" pitchFamily="50" charset="0"/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59CEEED-4838-7F45-8EEB-E5E59E3D73E2}"/>
                </a:ext>
              </a:extLst>
            </p:cNvPr>
            <p:cNvSpPr txBox="1"/>
            <p:nvPr/>
          </p:nvSpPr>
          <p:spPr>
            <a:xfrm>
              <a:off x="1349593" y="6142861"/>
              <a:ext cx="4406314" cy="31085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spcBef>
                  <a:spcPts val="100"/>
                </a:spcBef>
              </a:pPr>
              <a:r>
                <a:rPr lang="pt-BR" sz="2100" dirty="0">
                  <a:solidFill>
                    <a:schemeClr val="tx1"/>
                  </a:solidFill>
                  <a:effectLst/>
                  <a:latin typeface="PP Mori" pitchFamily="50" charset="0"/>
                </a:rPr>
                <a:t>Suas vendas elevadas à potência Cap</a:t>
              </a:r>
            </a:p>
            <a:p>
              <a:pPr>
                <a:spcBef>
                  <a:spcPts val="100"/>
                </a:spcBef>
              </a:pPr>
              <a:endParaRPr lang="pt-BR" sz="2100" dirty="0">
                <a:solidFill>
                  <a:schemeClr val="tx1"/>
                </a:solidFill>
                <a:latin typeface="PP Mori" pitchFamily="50" charset="0"/>
              </a:endParaRP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Profissionais especializados em promoções;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Produtos ganham um novo diferencial;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Fidelização de clientes e redução da inadimplência;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Mais visibilidade com as divulgações dos prêmios;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Aprovação rápida e sem burocracia.</a:t>
              </a:r>
              <a:endParaRPr lang="pt-BR" sz="1600" dirty="0">
                <a:solidFill>
                  <a:schemeClr val="tx1"/>
                </a:solidFill>
                <a:latin typeface="PP Mori" pitchFamily="50" charset="0"/>
              </a:endParaRPr>
            </a:p>
          </p:txBody>
        </p:sp>
      </p:grpSp>
      <p:sp>
        <p:nvSpPr>
          <p:cNvPr id="21" name="Retângulo Arredondado">
            <a:extLst>
              <a:ext uri="{FF2B5EF4-FFF2-40B4-BE49-F238E27FC236}">
                <a16:creationId xmlns:a16="http://schemas.microsoft.com/office/drawing/2014/main" id="{B3259F17-0ABE-70E8-671D-5CCB3664DCFC}"/>
              </a:ext>
            </a:extLst>
          </p:cNvPr>
          <p:cNvSpPr/>
          <p:nvPr/>
        </p:nvSpPr>
        <p:spPr>
          <a:xfrm>
            <a:off x="12284194" y="4485909"/>
            <a:ext cx="5368150" cy="6413739"/>
          </a:xfrm>
          <a:prstGeom prst="roundRect">
            <a:avLst>
              <a:gd name="adj" fmla="val 4820"/>
            </a:avLst>
          </a:prstGeom>
          <a:solidFill>
            <a:schemeClr val="bg1">
              <a:lumMod val="95000"/>
            </a:schemeClr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FD0D136-01DD-B232-6CED-85C112F8C104}"/>
              </a:ext>
            </a:extLst>
          </p:cNvPr>
          <p:cNvGrpSpPr/>
          <p:nvPr/>
        </p:nvGrpSpPr>
        <p:grpSpPr>
          <a:xfrm>
            <a:off x="12765112" y="5215116"/>
            <a:ext cx="4406314" cy="5096959"/>
            <a:chOff x="1349593" y="5293219"/>
            <a:chExt cx="4406314" cy="5096959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66ED35CC-C1A8-2432-C1DE-9102B2E98AF1}"/>
                </a:ext>
              </a:extLst>
            </p:cNvPr>
            <p:cNvSpPr txBox="1"/>
            <p:nvPr/>
          </p:nvSpPr>
          <p:spPr>
            <a:xfrm>
              <a:off x="1349593" y="5293219"/>
              <a:ext cx="3905066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pt-BR" sz="3400" dirty="0">
                  <a:solidFill>
                    <a:schemeClr val="tx1"/>
                  </a:solidFill>
                  <a:effectLst/>
                  <a:latin typeface="PP Mori Semibold" pitchFamily="50" charset="0"/>
                </a:rPr>
                <a:t>Cap Aluguel</a:t>
              </a:r>
              <a:endParaRPr lang="pt-BR" sz="3400" dirty="0">
                <a:solidFill>
                  <a:schemeClr val="tx1"/>
                </a:solidFill>
                <a:latin typeface="PP Mori Semibold" pitchFamily="50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CF6FF556-F0C8-4AED-C87C-F16CF8EFCD12}"/>
                </a:ext>
              </a:extLst>
            </p:cNvPr>
            <p:cNvSpPr txBox="1"/>
            <p:nvPr/>
          </p:nvSpPr>
          <p:spPr>
            <a:xfrm>
              <a:off x="1349593" y="6142861"/>
              <a:ext cx="4406314" cy="42473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spcBef>
                  <a:spcPts val="100"/>
                </a:spcBef>
              </a:pPr>
              <a:r>
                <a:rPr lang="pt-BR" sz="2100" dirty="0">
                  <a:solidFill>
                    <a:schemeClr val="tx1"/>
                  </a:solidFill>
                  <a:effectLst/>
                  <a:latin typeface="PP Mori" pitchFamily="50" charset="0"/>
                </a:rPr>
                <a:t>Com o Cap Aluguel, você não precisa mais de fiador e ainda pode receber até 100% do </a:t>
              </a:r>
              <a:r>
                <a:rPr lang="pt-BR" sz="2100" dirty="0">
                  <a:solidFill>
                    <a:schemeClr val="tx1"/>
                  </a:solidFill>
                  <a:latin typeface="PP Mori" pitchFamily="50" charset="0"/>
                </a:rPr>
                <a:t>valor</a:t>
              </a:r>
              <a:r>
                <a:rPr lang="pt-BR" sz="2100" dirty="0">
                  <a:solidFill>
                    <a:schemeClr val="tx1"/>
                  </a:solidFill>
                  <a:effectLst/>
                  <a:latin typeface="PP Mori" pitchFamily="50" charset="0"/>
                </a:rPr>
                <a:t> de volta, concorrendo a prêmios.</a:t>
              </a:r>
            </a:p>
            <a:p>
              <a:pPr>
                <a:spcBef>
                  <a:spcPts val="100"/>
                </a:spcBef>
              </a:pPr>
              <a:endParaRPr lang="pt-BR" sz="2100" dirty="0">
                <a:solidFill>
                  <a:schemeClr val="tx1"/>
                </a:solidFill>
                <a:latin typeface="PP Mori" pitchFamily="50" charset="0"/>
              </a:endParaRP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Títulos que possuem vigência de 12, 15, 18, 24, 30 ou 36 meses;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Resgate no final da vigência – caso não utilizado;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O locatário concorre a sorteios mensais de diversos prêmios;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Interessante alternativa ao Seguro Fiança, Fiador e Caução;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Possibilidade de receber de volta todo seu desembolso com o título.</a:t>
              </a:r>
              <a:endParaRPr lang="pt-BR" sz="1600" dirty="0">
                <a:solidFill>
                  <a:schemeClr val="tx1"/>
                </a:solidFill>
                <a:latin typeface="PP Mori" pitchFamily="50" charset="0"/>
              </a:endParaRPr>
            </a:p>
          </p:txBody>
        </p:sp>
      </p:grpSp>
      <p:sp>
        <p:nvSpPr>
          <p:cNvPr id="28" name="Retângulo Arredondado">
            <a:extLst>
              <a:ext uri="{FF2B5EF4-FFF2-40B4-BE49-F238E27FC236}">
                <a16:creationId xmlns:a16="http://schemas.microsoft.com/office/drawing/2014/main" id="{91822D08-071A-17F8-1236-D152A71C45A6}"/>
              </a:ext>
            </a:extLst>
          </p:cNvPr>
          <p:cNvSpPr/>
          <p:nvPr/>
        </p:nvSpPr>
        <p:spPr>
          <a:xfrm>
            <a:off x="18024594" y="4485909"/>
            <a:ext cx="5368150" cy="6413739"/>
          </a:xfrm>
          <a:prstGeom prst="roundRect">
            <a:avLst>
              <a:gd name="adj" fmla="val 4820"/>
            </a:avLst>
          </a:prstGeom>
          <a:solidFill>
            <a:schemeClr val="bg1">
              <a:lumMod val="95000"/>
            </a:schemeClr>
          </a:solidFill>
          <a:ln w="12700">
            <a:noFill/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800" dirty="0">
              <a:solidFill>
                <a:schemeClr val="tx1"/>
              </a:solidFill>
            </a:endParaRP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C06D52D-6A32-3AAF-74E1-EB1B01B4498C}"/>
              </a:ext>
            </a:extLst>
          </p:cNvPr>
          <p:cNvGrpSpPr/>
          <p:nvPr/>
        </p:nvGrpSpPr>
        <p:grpSpPr>
          <a:xfrm>
            <a:off x="18505512" y="5215116"/>
            <a:ext cx="4406314" cy="4591692"/>
            <a:chOff x="1349593" y="5293219"/>
            <a:chExt cx="4406314" cy="4591692"/>
          </a:xfrm>
        </p:grpSpPr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259F4A1E-9F7D-0D75-B01E-484044CF060D}"/>
                </a:ext>
              </a:extLst>
            </p:cNvPr>
            <p:cNvSpPr txBox="1"/>
            <p:nvPr/>
          </p:nvSpPr>
          <p:spPr>
            <a:xfrm>
              <a:off x="1349593" y="5293219"/>
              <a:ext cx="3905066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pt-BR" sz="3400" dirty="0">
                  <a:solidFill>
                    <a:schemeClr val="tx1"/>
                  </a:solidFill>
                  <a:effectLst/>
                  <a:latin typeface="PP Mori Semibold" pitchFamily="50" charset="0"/>
                </a:rPr>
                <a:t>Cap Garantia</a:t>
              </a:r>
              <a:endParaRPr lang="pt-BR" sz="3400" dirty="0">
                <a:solidFill>
                  <a:schemeClr val="tx1"/>
                </a:solidFill>
                <a:latin typeface="PP Mori Semibold" pitchFamily="50" charset="0"/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40A6C60D-E2C4-CECF-3B44-8E8E0AE8A4CF}"/>
                </a:ext>
              </a:extLst>
            </p:cNvPr>
            <p:cNvSpPr txBox="1"/>
            <p:nvPr/>
          </p:nvSpPr>
          <p:spPr>
            <a:xfrm>
              <a:off x="1349593" y="6142861"/>
              <a:ext cx="4406314" cy="3742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spcBef>
                  <a:spcPts val="100"/>
                </a:spcBef>
              </a:pPr>
              <a:r>
                <a:rPr lang="pt-BR" sz="2100" dirty="0">
                  <a:solidFill>
                    <a:schemeClr val="tx1"/>
                  </a:solidFill>
                  <a:effectLst/>
                  <a:latin typeface="PP Mori" pitchFamily="50" charset="0"/>
                </a:rPr>
                <a:t>Com o Cap Garantia, você garante seu contrato e ainda pode receber até 100% do </a:t>
              </a:r>
              <a:r>
                <a:rPr lang="pt-BR" sz="2100" dirty="0">
                  <a:solidFill>
                    <a:schemeClr val="tx1"/>
                  </a:solidFill>
                  <a:latin typeface="PP Mori" pitchFamily="50" charset="0"/>
                </a:rPr>
                <a:t>valor</a:t>
              </a:r>
              <a:r>
                <a:rPr lang="pt-BR" sz="2100" dirty="0">
                  <a:solidFill>
                    <a:schemeClr val="tx1"/>
                  </a:solidFill>
                  <a:effectLst/>
                  <a:latin typeface="PP Mori" pitchFamily="50" charset="0"/>
                </a:rPr>
                <a:t> de volta, concorrendo a prêmios.</a:t>
              </a:r>
            </a:p>
            <a:p>
              <a:pPr>
                <a:spcBef>
                  <a:spcPts val="100"/>
                </a:spcBef>
              </a:pPr>
              <a:endParaRPr lang="pt-BR" sz="2100" dirty="0">
                <a:solidFill>
                  <a:schemeClr val="tx1"/>
                </a:solidFill>
                <a:latin typeface="PP Mori" pitchFamily="50" charset="0"/>
              </a:endParaRP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Títulos que possuem vigência de 12 ou mais meses, podendo ser renovados automaticamente até o fim do contrato.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Resgate no final da vigência – caso não utilizado;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Interessante alternativa ao Caução;</a:t>
              </a:r>
            </a:p>
            <a:p>
              <a:pPr marL="285750" indent="-285750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PP Mori" pitchFamily="50" charset="0"/>
                </a:rPr>
                <a:t>Possibilidade de receber de volta todo seu desembolso com o título.</a:t>
              </a:r>
            </a:p>
          </p:txBody>
        </p:sp>
      </p:grpSp>
      <p:pic>
        <p:nvPicPr>
          <p:cNvPr id="37" name="Gráfico 36">
            <a:extLst>
              <a:ext uri="{FF2B5EF4-FFF2-40B4-BE49-F238E27FC236}">
                <a16:creationId xmlns:a16="http://schemas.microsoft.com/office/drawing/2014/main" id="{C5B899F2-E168-AC16-F3CF-76A82B564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22285" y="746372"/>
            <a:ext cx="4044259" cy="504015"/>
          </a:xfrm>
          <a:prstGeom prst="rect">
            <a:avLst/>
          </a:prstGeom>
        </p:spPr>
      </p:pic>
      <p:sp>
        <p:nvSpPr>
          <p:cNvPr id="39" name="BANCASSURANCE">
            <a:extLst>
              <a:ext uri="{FF2B5EF4-FFF2-40B4-BE49-F238E27FC236}">
                <a16:creationId xmlns:a16="http://schemas.microsoft.com/office/drawing/2014/main" id="{D5859F92-F302-8978-A947-27328F1547D1}"/>
              </a:ext>
            </a:extLst>
          </p:cNvPr>
          <p:cNvSpPr txBox="1"/>
          <p:nvPr/>
        </p:nvSpPr>
        <p:spPr>
          <a:xfrm>
            <a:off x="22137885" y="12810206"/>
            <a:ext cx="1442720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r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2026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sp>
        <p:nvSpPr>
          <p:cNvPr id="41" name="BANCASSURANCE">
            <a:extLst>
              <a:ext uri="{FF2B5EF4-FFF2-40B4-BE49-F238E27FC236}">
                <a16:creationId xmlns:a16="http://schemas.microsoft.com/office/drawing/2014/main" id="{0EAC451E-AB83-37C8-EC3F-1E43134194D2}"/>
              </a:ext>
            </a:extLst>
          </p:cNvPr>
          <p:cNvSpPr txBox="1"/>
          <p:nvPr/>
        </p:nvSpPr>
        <p:spPr>
          <a:xfrm>
            <a:off x="803395" y="12810206"/>
            <a:ext cx="6704708" cy="42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1600" tIns="101600" rIns="101600" bIns="1016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3400" cap="all" spc="1870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pPr algn="l"/>
            <a:r>
              <a:rPr lang="pt-BR" sz="1800" spc="600" dirty="0">
                <a:solidFill>
                  <a:schemeClr val="tx1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Documento confidencial</a:t>
            </a:r>
            <a:endParaRPr sz="1800" spc="600" dirty="0">
              <a:solidFill>
                <a:schemeClr val="tx1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099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6A4EB-6DE7-F8B6-8B43-509ABA4E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CASSURANCE">
            <a:extLst>
              <a:ext uri="{FF2B5EF4-FFF2-40B4-BE49-F238E27FC236}">
                <a16:creationId xmlns:a16="http://schemas.microsoft.com/office/drawing/2014/main" id="{1363463B-C929-16D7-C4B5-0E6A07F8654B}"/>
              </a:ext>
            </a:extLst>
          </p:cNvPr>
          <p:cNvSpPr txBox="1"/>
          <p:nvPr/>
        </p:nvSpPr>
        <p:spPr>
          <a:xfrm>
            <a:off x="0" y="11623092"/>
            <a:ext cx="24384000" cy="32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2438336">
              <a:lnSpc>
                <a:spcPct val="80000"/>
              </a:lnSpc>
              <a:spcBef>
                <a:spcPts val="0"/>
              </a:spcBef>
              <a:defRPr sz="1800" i="1" cap="all" spc="558">
                <a:solidFill>
                  <a:srgbClr val="FFFFFF"/>
                </a:solidFill>
                <a:latin typeface="NewJuneMedium"/>
                <a:ea typeface="NewJuneMedium"/>
                <a:cs typeface="NewJuneMedium"/>
                <a:sym typeface="NewJuneMedium"/>
              </a:defRPr>
            </a:lvl1pPr>
          </a:lstStyle>
          <a:p>
            <a:r>
              <a:rPr lang="pt-BR" i="0" dirty="0" err="1">
                <a:solidFill>
                  <a:srgbClr val="CFF74A"/>
                </a:solidFill>
                <a:latin typeface="PP Mori" pitchFamily="50" charset="0"/>
                <a:ea typeface="PP Mori" pitchFamily="50" charset="0"/>
                <a:cs typeface="PP Mori" pitchFamily="50" charset="0"/>
              </a:rPr>
              <a:t>Kevseguros.com.br</a:t>
            </a:r>
            <a:endParaRPr i="0" dirty="0">
              <a:solidFill>
                <a:srgbClr val="CFF74A"/>
              </a:solidFill>
              <a:latin typeface="PP Mori" pitchFamily="50" charset="0"/>
              <a:ea typeface="PP Mori" pitchFamily="50" charset="0"/>
              <a:cs typeface="PP Mori" pitchFamily="50" charset="0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A95286A-4F7B-B727-5314-95AB82DE30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4225" y="5781675"/>
            <a:ext cx="101155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9965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1CB37325E0024FB6364E979BACE4AC" ma:contentTypeVersion="19" ma:contentTypeDescription="Crie um novo documento." ma:contentTypeScope="" ma:versionID="badfc031f6716c67aafa9de03cb2f6b7">
  <xsd:schema xmlns:xsd="http://www.w3.org/2001/XMLSchema" xmlns:xs="http://www.w3.org/2001/XMLSchema" xmlns:p="http://schemas.microsoft.com/office/2006/metadata/properties" xmlns:ns2="c0dbf967-7d1d-4c00-a092-f8634458a3ba" xmlns:ns3="9cc73ccc-9da7-43fe-a033-23e8c58ae754" targetNamespace="http://schemas.microsoft.com/office/2006/metadata/properties" ma:root="true" ma:fieldsID="56d4e57e23111872e45b0d80e0903d83" ns2:_="" ns3:_="">
    <xsd:import namespace="c0dbf967-7d1d-4c00-a092-f8634458a3ba"/>
    <xsd:import namespace="9cc73ccc-9da7-43fe-a033-23e8c58ae75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bf967-7d1d-4c00-a092-f8634458a3b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97b136a-8a38-4661-b6c6-9c8ae582d8e0}" ma:internalName="TaxCatchAll" ma:showField="CatchAllData" ma:web="c0dbf967-7d1d-4c00-a092-f8634458a3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c73ccc-9da7-43fe-a033-23e8c58ae7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467f1eb2-36ed-460e-ad1e-aef0be7bdc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c73ccc-9da7-43fe-a033-23e8c58ae754">
      <Terms xmlns="http://schemas.microsoft.com/office/infopath/2007/PartnerControls"/>
    </lcf76f155ced4ddcb4097134ff3c332f>
    <TaxCatchAll xmlns="c0dbf967-7d1d-4c00-a092-f8634458a3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A57A4C-6E37-45B1-8C1A-6A494218BC52}"/>
</file>

<file path=customXml/itemProps2.xml><?xml version="1.0" encoding="utf-8"?>
<ds:datastoreItem xmlns:ds="http://schemas.openxmlformats.org/officeDocument/2006/customXml" ds:itemID="{00AECAAD-C90E-4304-9038-A5247489FA6D}">
  <ds:schemaRefs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e2f559db-178c-402b-a6a2-39f5c35149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28479bc-c3f5-48fb-add5-27fec953838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EBA8618-3259-4A90-AC96-60A4801DB8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7366</TotalTime>
  <Words>753</Words>
  <Application>Microsoft Office PowerPoint</Application>
  <PresentationFormat>Personalizar</PresentationFormat>
  <Paragraphs>128</Paragraphs>
  <Slides>12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Helvetica Neue</vt:lpstr>
      <vt:lpstr>Helvetica Neue Medium</vt:lpstr>
      <vt:lpstr>PP Mori</vt:lpstr>
      <vt:lpstr>PP Mori Semibold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 Antonio Baraldi Rossi</dc:creator>
  <cp:lastModifiedBy>Marco Antonio Baraldi Rossi</cp:lastModifiedBy>
  <cp:revision>17</cp:revision>
  <dcterms:modified xsi:type="dcterms:W3CDTF">2026-08-11T21:46:42Z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0x010100491CB37325E0024FB6364E979BACE4AC</vt:lpwstr>
  </property>
  <property fmtid="{D5CDD505-2E9C-101B-9397-08002B2CF9AE}" pid="3" name="MediaServiceImageTags">
    <vt:lpwstr/>
  </property>
</Properties>
</file>